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id="2147483649" r:id="rId20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Bebas Neue Bold" charset="1" panose="020B0606020202050201"/>
      <p:regular r:id="rId15"/>
    </p:embeddedFont>
    <p:embeddedFont>
      <p:font typeface="Montserrat Bold" charset="1" panose="00000800000000000000"/>
      <p:regular r:id="rId16"/>
    </p:embeddedFont>
    <p:embeddedFont>
      <p:font typeface="Raleway Bold" charset="1" panose="00000000000000000000"/>
      <p:regular r:id="rId17"/>
    </p:embeddedFont>
    <p:embeddedFont>
      <p:font typeface="Raleway" charset="1" panose="00000000000000000000"/>
      <p:regular r:id="rId18"/>
    </p:embeddedFont>
    <p:embeddedFont>
      <p:font typeface="Montserrat" charset="1" panose="00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no'?>
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20" Target="notesMasters/notesMaster1.xml" Type="http://schemas.openxmlformats.org/officeDocument/2006/relationships/notesMaster"/></Relationships>
</file>

<file path=ppt/notesMasters/_rels/notesMaster1.xml.rels><?xml version="1.0" encoding="UTF-8" standalone="yes"?>
<Relationships xmlns="http://schemas.openxmlformats.org/package/2006/relationships">
  <Relationship Id="rId1" Target="../theme/theme1.xml" Type="http://schemas.openxmlformats.org/officeDocument/2006/relationships/theme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1" Target="../slides/slide1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2.xml.rels><?xml version="1.0" encoding="UTF-8" standalone="yes"?>
<Relationships xmlns="http://schemas.openxmlformats.org/package/2006/relationships">
  <Relationship Id="rId1" Target="../slides/slide2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3.xml.rels><?xml version="1.0" encoding="UTF-8" standalone="yes"?>
<Relationships xmlns="http://schemas.openxmlformats.org/package/2006/relationships">
  <Relationship Id="rId1" Target="../slides/slide3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4.xml.rels><?xml version="1.0" encoding="UTF-8" standalone="yes"?>
<Relationships xmlns="http://schemas.openxmlformats.org/package/2006/relationships">
  <Relationship Id="rId1" Target="../slides/slide4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5.xml.rels><?xml version="1.0" encoding="UTF-8" standalone="yes"?>
<Relationships xmlns="http://schemas.openxmlformats.org/package/2006/relationships">
  <Relationship Id="rId1" Target="../slides/slide5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6.xml.rels><?xml version="1.0" encoding="UTF-8" standalone="yes"?>
<Relationships xmlns="http://schemas.openxmlformats.org/package/2006/relationships">
  <Relationship Id="rId1" Target="../slides/slide6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7.xml.rels><?xml version="1.0" encoding="UTF-8" standalone="yes"?>
<Relationships xmlns="http://schemas.openxmlformats.org/package/2006/relationships">
  <Relationship Id="rId1" Target="../slides/slide7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8.xml.rels><?xml version="1.0" encoding="UTF-8" standalone="yes"?>
<Relationships xmlns="http://schemas.openxmlformats.org/package/2006/relationships">
  <Relationship Id="rId1" Target="../slides/slide8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_rels/notesSlide9.xml.rels><?xml version="1.0" encoding="UTF-8" standalone="yes"?>
<Relationships xmlns="http://schemas.openxmlformats.org/package/2006/relationships">
  <Relationship Id="rId1" Target="../slides/slide9.xml" Type="http://schemas.openxmlformats.org/officeDocument/2006/relationships/slide"/>
  <Relationship Id="rId2" Target="../notesMasters/notesMaster1.xml" Type="http://schemas.openxmlformats.org/officeDocument/2006/relationships/notesMaster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Open by connecting this to checkpoint 1: the project moved from data understanding into a first reproducible modeling baseline. State the boundary early: we study predictive association, not causality.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This agenda is the milestone path. It intentionally avoids final-test claims and shows how the team moved from scope and feature risk into first validation results.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Emphasize continuity: checkpoint 1 locked the question, target, imbalance, and leakage concerns. Checkpoint 2 turns those decisions into a modeling pipeline.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Defend the evaluation discipline: the official test file is reserved. Checkpoint 2 uses an internal split from the training file for model comparison.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This is the core methodology defense. The feature contract is leakage-safer, not perfect. Risky review-process and post-outcome fields are held back or sensitivity-only.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Explain that preprocessing is inside a pipeline so transformations are learned only from training data. Evaluation prioritizes not-merged metrics because the target is imbalanced.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Present Random Forest as validation-best by not-merged F1. Do not oversell it: the result is moderate and selected for checkpoint comparison, not deployment.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Use this slide to show what remains before final submission: execute the milestone notebook, preserve feature timing discipline, keep claims non-causal, and evaluate the official test only later.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576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latin typeface="Arial"/>
              </a:rPr>
              <a:t>Close with the defense line: the model finds useful but moderate signal, and the project's strength is disciplined methodology under feature-timing constraints.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notesSlides/notesSlide1.xml" Type="http://schemas.openxmlformats.org/officeDocument/2006/relationships/notesSlide"/></Relationships>
</file>

<file path=ppt/slides/_rels/slide2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notesSlides/notesSlide2.xml" Type="http://schemas.openxmlformats.org/officeDocument/2006/relationships/notesSlide"/></Relationships>
</file>

<file path=ppt/slides/_rels/slide3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https://zenodo.org/records/10049493" TargetMode="External" Type="http://schemas.openxmlformats.org/officeDocument/2006/relationships/hyperlink"/><Relationship Id="rId4" Target="../notesSlides/notesSlide4.xml" Type="http://schemas.openxmlformats.org/officeDocument/2006/relationships/notesSlide"/></Relationships>
</file>

<file path=ppt/slides/_rels/slide5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notesSlides/notesSlide5.xml" Type="http://schemas.openxmlformats.org/officeDocument/2006/relationships/notesSlide"/></Relationships>
</file>

<file path=ppt/slides/_rels/slide6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notesSlides/notesSlide6.xml" Type="http://schemas.openxmlformats.org/officeDocument/2006/relationships/notesSlide"/></Relationships>
</file>

<file path=ppt/slides/_rels/slide7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checkpoint2_model_comparison.png" Type="http://schemas.openxmlformats.org/officeDocument/2006/relationships/image"/><Relationship Id="rId3" Target="../notesSlides/notesSlide7.xml" Type="http://schemas.openxmlformats.org/officeDocument/2006/relationships/notesSlide"/></Relationships>
</file>

<file path=ppt/slides/_rels/slide8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notesSlides/notesSlide8.xml" Type="http://schemas.openxmlformats.org/officeDocument/2006/relationships/notesSlide"/></Relationships>
</file>

<file path=ppt/slides/_rels/slide9.xml.rels><?xml version='1.0' encoding='UTF-8' standalone='no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notesSlides/notesSlide9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533163" y="1500333"/>
            <a:ext cx="7387257" cy="7387257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5E9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632374" y="1028700"/>
            <a:ext cx="3413934" cy="3413934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5E9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9863737" y="2440148"/>
            <a:ext cx="5916396" cy="5507627"/>
          </a:xfrm>
          <a:custGeom>
            <a:avLst/>
            <a:gdLst/>
            <a:ahLst/>
            <a:cxnLst/>
            <a:rect r="r" b="b" t="t" l="l"/>
            <a:pathLst>
              <a:path h="5507627" w="5916396">
                <a:moveTo>
                  <a:pt x="0" y="0"/>
                </a:moveTo>
                <a:lnTo>
                  <a:pt x="5916396" y="0"/>
                </a:lnTo>
                <a:lnTo>
                  <a:pt x="5916396" y="5507627"/>
                </a:lnTo>
                <a:lnTo>
                  <a:pt x="0" y="55076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73092" y="5879691"/>
            <a:ext cx="6602343" cy="336119"/>
          </a:xfrm>
          <a:custGeom>
            <a:avLst/>
            <a:gdLst/>
            <a:ahLst/>
            <a:cxnLst/>
            <a:rect r="r" b="b" t="t" l="l"/>
            <a:pathLst>
              <a:path h="336119" w="6602343">
                <a:moveTo>
                  <a:pt x="0" y="0"/>
                </a:moveTo>
                <a:lnTo>
                  <a:pt x="6602343" y="0"/>
                </a:lnTo>
                <a:lnTo>
                  <a:pt x="6602343" y="336119"/>
                </a:lnTo>
                <a:lnTo>
                  <a:pt x="0" y="3361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745465" y="6448040"/>
            <a:ext cx="5034668" cy="2810260"/>
          </a:xfrm>
          <a:custGeom>
            <a:avLst/>
            <a:gdLst/>
            <a:ahLst/>
            <a:cxnLst/>
            <a:rect r="r" b="b" t="t" l="l"/>
            <a:pathLst>
              <a:path h="2810260" w="5034668">
                <a:moveTo>
                  <a:pt x="0" y="0"/>
                </a:moveTo>
                <a:lnTo>
                  <a:pt x="5034668" y="0"/>
                </a:lnTo>
                <a:lnTo>
                  <a:pt x="5034668" y="2810260"/>
                </a:lnTo>
                <a:lnTo>
                  <a:pt x="0" y="28102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091936" y="552280"/>
            <a:ext cx="2843806" cy="1587361"/>
          </a:xfrm>
          <a:custGeom>
            <a:avLst/>
            <a:gdLst/>
            <a:ahLst/>
            <a:cxnLst/>
            <a:rect r="r" b="b" t="t" l="l"/>
            <a:pathLst>
              <a:path h="1587361" w="2843806">
                <a:moveTo>
                  <a:pt x="0" y="0"/>
                </a:moveTo>
                <a:lnTo>
                  <a:pt x="2843807" y="0"/>
                </a:lnTo>
                <a:lnTo>
                  <a:pt x="2843807" y="1587361"/>
                </a:lnTo>
                <a:lnTo>
                  <a:pt x="0" y="15873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423809" y="799399"/>
            <a:ext cx="2941023" cy="1093124"/>
          </a:xfrm>
          <a:custGeom>
            <a:avLst/>
            <a:gdLst/>
            <a:ahLst/>
            <a:cxnLst/>
            <a:rect r="r" b="b" t="t" l="l"/>
            <a:pathLst>
              <a:path h="1093124" w="2941023">
                <a:moveTo>
                  <a:pt x="0" y="0"/>
                </a:moveTo>
                <a:lnTo>
                  <a:pt x="2941023" y="0"/>
                </a:lnTo>
                <a:lnTo>
                  <a:pt x="2941023" y="1093123"/>
                </a:lnTo>
                <a:lnTo>
                  <a:pt x="0" y="10931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423809" y="2560000"/>
            <a:ext cx="8350000" cy="365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57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Checkpoint 2</a:t>
            </a:r>
          </a:p>
          <a:p>
            <a:r>
              <a:rPr lang="en-US" sz="52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PR Merge Outcome</a:t>
            </a:r>
          </a:p>
          <a:p>
            <a:r>
              <a:rPr lang="en-US" sz="5600" b="1">
                <a:ea typeface="Bebas Neue Bold"/>
                <a:cs typeface="Bebas Neue Bold"/>
                <a:sym typeface="Bebas Neue Bold"/>
                <a:solidFill>
                  <a:srgbClr val="E7862A"/>
                </a:solidFill>
                <a:latin typeface="Raleway Bold"/>
              </a:rPr>
              <a:t>Modeling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73092" y="6430000"/>
            <a:ext cx="7879834" cy="3307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Montserrat Bold"/>
                <a:cs typeface="Montserrat Bold"/>
                <a:sym typeface="Montserrat Bold"/>
                <a:solidFill>
                  <a:srgbClr val="FFFFFF"/>
                </a:solidFill>
                <a:latin typeface="Raleway Bold"/>
              </a:rPr>
              <a:t>FEUP/MESW/ADES, MAY 2026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73092" y="7000000"/>
            <a:ext cx="7879834" cy="1016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550" b="1">
                <a:ea typeface="Montserrat Bold"/>
                <a:cs typeface="Montserrat Bold"/>
                <a:sym typeface="Montserrat Bold"/>
                <a:solidFill>
                  <a:srgbClr val="FFFFFF"/>
                </a:solidFill>
                <a:latin typeface="Raleway Bold"/>
              </a:rPr>
              <a:t>MAHMOUD ALI</a:t>
            </a:r>
          </a:p>
          <a:p>
            <a:r>
              <a:rPr lang="en-US" sz="1550" b="1">
                <a:ea typeface="Montserrat Bold"/>
                <a:cs typeface="Montserrat Bold"/>
                <a:sym typeface="Montserrat Bold"/>
                <a:solidFill>
                  <a:srgbClr val="FFFFFF"/>
                </a:solidFill>
                <a:latin typeface="Raleway Bold"/>
              </a:rPr>
              <a:t>TESNIME SEBEI</a:t>
            </a:r>
          </a:p>
          <a:p>
            <a:r>
              <a:rPr lang="en-US" sz="1550" b="1">
                <a:ea typeface="Montserrat Bold"/>
                <a:cs typeface="Montserrat Bold"/>
                <a:sym typeface="Montserrat Bold"/>
                <a:solidFill>
                  <a:srgbClr val="FFFFFF"/>
                </a:solidFill>
                <a:latin typeface="Raleway Bold"/>
              </a:rPr>
              <a:t>GESSICA GOULART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55397" y="3427178"/>
            <a:ext cx="674722" cy="674722"/>
          </a:xfrm>
          <a:custGeom>
            <a:avLst/>
            <a:gdLst/>
            <a:ahLst/>
            <a:cxnLst/>
            <a:rect r="r" b="b" t="t" l="l"/>
            <a:pathLst>
              <a:path h="674722" w="674722">
                <a:moveTo>
                  <a:pt x="0" y="0"/>
                </a:moveTo>
                <a:lnTo>
                  <a:pt x="674722" y="0"/>
                </a:lnTo>
                <a:lnTo>
                  <a:pt x="674722" y="674722"/>
                </a:lnTo>
                <a:lnTo>
                  <a:pt x="0" y="6747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31399" y="2680302"/>
            <a:ext cx="5905397" cy="5905397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5E9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23809" y="3515896"/>
            <a:ext cx="5663047" cy="4478956"/>
          </a:xfrm>
          <a:custGeom>
            <a:avLst/>
            <a:gdLst/>
            <a:ahLst/>
            <a:cxnLst/>
            <a:rect r="r" b="b" t="t" l="l"/>
            <a:pathLst>
              <a:path h="4478956" w="5663047">
                <a:moveTo>
                  <a:pt x="0" y="0"/>
                </a:moveTo>
                <a:lnTo>
                  <a:pt x="5663048" y="0"/>
                </a:lnTo>
                <a:lnTo>
                  <a:pt x="5663048" y="4478956"/>
                </a:lnTo>
                <a:lnTo>
                  <a:pt x="0" y="44789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  <a:spcBef>
                <a:spcPct val="0"/>
              </a:spcBef>
            </a:pPr>
            <a:r>
              <a:rPr lang="en-US" b="true" sz="1940">
                <a:solidFill>
                  <a:srgbClr val="3D2882"/>
                </a:solidFill>
                <a:latin typeface="Raleway Bold"/>
                <a:ea typeface="Raleway Bold"/>
                <a:cs typeface="Raleway Bold"/>
                <a:sym typeface="Raleway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155397" y="2144737"/>
            <a:ext cx="6706783" cy="1120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52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Agenda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72673" y="3532322"/>
            <a:ext cx="6987675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Checkpoint 1 Continuity and Objective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23191" y="3501942"/>
            <a:ext cx="139134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  <a:spcBef>
                <a:spcPct val="0"/>
              </a:spcBef>
            </a:pPr>
            <a:r>
              <a:rPr lang="en-US" b="true" sz="2340">
                <a:solidFill>
                  <a:srgbClr val="FFF5E9"/>
                </a:solidFill>
                <a:latin typeface="Raleway Bold"/>
                <a:ea typeface="Raleway Bold"/>
                <a:cs typeface="Raleway Bold"/>
                <a:sym typeface="Raleway Bold"/>
              </a:rPr>
              <a:t>1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8155397" y="4263825"/>
            <a:ext cx="674722" cy="674722"/>
          </a:xfrm>
          <a:custGeom>
            <a:avLst/>
            <a:gdLst/>
            <a:ahLst/>
            <a:cxnLst/>
            <a:rect r="r" b="b" t="t" l="l"/>
            <a:pathLst>
              <a:path h="674722" w="674722">
                <a:moveTo>
                  <a:pt x="0" y="0"/>
                </a:moveTo>
                <a:lnTo>
                  <a:pt x="674722" y="0"/>
                </a:lnTo>
                <a:lnTo>
                  <a:pt x="674722" y="674723"/>
                </a:lnTo>
                <a:lnTo>
                  <a:pt x="0" y="6747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9172673" y="4368970"/>
            <a:ext cx="6987675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Data Scope and Validation Discipline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413666" y="5176673"/>
            <a:ext cx="139134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  <a:spcBef>
                <a:spcPct val="0"/>
              </a:spcBef>
            </a:pPr>
            <a:r>
              <a:rPr lang="en-US" b="true" sz="2340">
                <a:solidFill>
                  <a:srgbClr val="FFF5E9"/>
                </a:solidFill>
                <a:latin typeface="Raleway Bold"/>
                <a:ea typeface="Raleway Bold"/>
                <a:cs typeface="Raleway Bold"/>
                <a:sym typeface="Raleway Bold"/>
              </a:rPr>
              <a:t>3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8155397" y="5100473"/>
            <a:ext cx="674722" cy="674722"/>
          </a:xfrm>
          <a:custGeom>
            <a:avLst/>
            <a:gdLst/>
            <a:ahLst/>
            <a:cxnLst/>
            <a:rect r="r" b="b" t="t" l="l"/>
            <a:pathLst>
              <a:path h="674722" w="674722">
                <a:moveTo>
                  <a:pt x="0" y="0"/>
                </a:moveTo>
                <a:lnTo>
                  <a:pt x="674722" y="0"/>
                </a:lnTo>
                <a:lnTo>
                  <a:pt x="674722" y="674722"/>
                </a:lnTo>
                <a:lnTo>
                  <a:pt x="0" y="6747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9172673" y="5043323"/>
            <a:ext cx="6987675" cy="816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Feature-Availability Contract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413666" y="4340395"/>
            <a:ext cx="139134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  <a:spcBef>
                <a:spcPct val="0"/>
              </a:spcBef>
            </a:pPr>
            <a:r>
              <a:rPr lang="en-US" b="true" sz="2340">
                <a:solidFill>
                  <a:srgbClr val="FFF5E9"/>
                </a:solidFill>
                <a:latin typeface="Raleway Bold"/>
                <a:ea typeface="Raleway Bold"/>
                <a:cs typeface="Raleway Bold"/>
                <a:sym typeface="Raleway Bold"/>
              </a:rPr>
              <a:t>2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8155397" y="5937120"/>
            <a:ext cx="674722" cy="674722"/>
          </a:xfrm>
          <a:custGeom>
            <a:avLst/>
            <a:gdLst/>
            <a:ahLst/>
            <a:cxnLst/>
            <a:rect r="r" b="b" t="t" l="l"/>
            <a:pathLst>
              <a:path h="674722" w="674722">
                <a:moveTo>
                  <a:pt x="0" y="0"/>
                </a:moveTo>
                <a:lnTo>
                  <a:pt x="674722" y="0"/>
                </a:lnTo>
                <a:lnTo>
                  <a:pt x="674722" y="674723"/>
                </a:lnTo>
                <a:lnTo>
                  <a:pt x="0" y="6747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9172673" y="6042265"/>
            <a:ext cx="6987675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Preprocessing and Model Families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413666" y="6013320"/>
            <a:ext cx="139134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  <a:spcBef>
                <a:spcPct val="0"/>
              </a:spcBef>
            </a:pPr>
            <a:r>
              <a:rPr lang="en-US" b="true" sz="2340">
                <a:solidFill>
                  <a:srgbClr val="FFF5E9"/>
                </a:solidFill>
                <a:latin typeface="Raleway Bold"/>
                <a:ea typeface="Raleway Bold"/>
                <a:cs typeface="Raleway Bold"/>
                <a:sym typeface="Raleway Bold"/>
              </a:rPr>
              <a:t>4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155397" y="6773768"/>
            <a:ext cx="674722" cy="674722"/>
          </a:xfrm>
          <a:custGeom>
            <a:avLst/>
            <a:gdLst/>
            <a:ahLst/>
            <a:cxnLst/>
            <a:rect r="r" b="b" t="t" l="l"/>
            <a:pathLst>
              <a:path h="674722" w="674722">
                <a:moveTo>
                  <a:pt x="0" y="0"/>
                </a:moveTo>
                <a:lnTo>
                  <a:pt x="674722" y="0"/>
                </a:lnTo>
                <a:lnTo>
                  <a:pt x="674722" y="674722"/>
                </a:lnTo>
                <a:lnTo>
                  <a:pt x="0" y="6747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172673" y="6878912"/>
            <a:ext cx="6987675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Internal Validation Results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413666" y="6849968"/>
            <a:ext cx="139134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  <a:spcBef>
                <a:spcPct val="0"/>
              </a:spcBef>
            </a:pPr>
            <a:r>
              <a:rPr lang="en-US" b="true" sz="2340">
                <a:solidFill>
                  <a:srgbClr val="FFF5E9"/>
                </a:solidFill>
                <a:latin typeface="Raleway Bold"/>
                <a:ea typeface="Raleway Bold"/>
                <a:cs typeface="Raleway Bold"/>
                <a:sym typeface="Raleway Bold"/>
              </a:rPr>
              <a:t>5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8155397" y="7610415"/>
            <a:ext cx="674722" cy="674722"/>
          </a:xfrm>
          <a:custGeom>
            <a:avLst/>
            <a:gdLst/>
            <a:ahLst/>
            <a:cxnLst/>
            <a:rect r="r" b="b" t="t" l="l"/>
            <a:pathLst>
              <a:path h="674722" w="674722">
                <a:moveTo>
                  <a:pt x="0" y="0"/>
                </a:moveTo>
                <a:lnTo>
                  <a:pt x="674722" y="0"/>
                </a:lnTo>
                <a:lnTo>
                  <a:pt x="674722" y="674723"/>
                </a:lnTo>
                <a:lnTo>
                  <a:pt x="0" y="6747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9172673" y="7715559"/>
            <a:ext cx="6987675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6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Interpretation and Next Steps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413666" y="7715559"/>
            <a:ext cx="139134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  <a:spcBef>
                <a:spcPct val="0"/>
              </a:spcBef>
            </a:pPr>
            <a:r>
              <a:rPr lang="en-US" b="true" sz="2340">
                <a:solidFill>
                  <a:srgbClr val="FFF5E9"/>
                </a:solidFill>
                <a:latin typeface="Raleway Bold"/>
                <a:ea typeface="Raleway Bold"/>
                <a:cs typeface="Raleway Bold"/>
                <a:sym typeface="Raleway Bold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52266" y="3697115"/>
            <a:ext cx="6821570" cy="5597167"/>
            <a:chOff x="0" y="0"/>
            <a:chExt cx="1796628" cy="147415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96628" cy="1474151"/>
            </a:xfrm>
            <a:custGeom>
              <a:avLst/>
              <a:gdLst/>
              <a:ahLst/>
              <a:cxnLst/>
              <a:rect r="r" b="b" t="t" l="l"/>
              <a:pathLst>
                <a:path h="1474151" w="1796628">
                  <a:moveTo>
                    <a:pt x="57881" y="0"/>
                  </a:moveTo>
                  <a:lnTo>
                    <a:pt x="1738747" y="0"/>
                  </a:lnTo>
                  <a:cubicBezTo>
                    <a:pt x="1754098" y="0"/>
                    <a:pt x="1768820" y="6098"/>
                    <a:pt x="1779675" y="16953"/>
                  </a:cubicBezTo>
                  <a:cubicBezTo>
                    <a:pt x="1790529" y="27808"/>
                    <a:pt x="1796628" y="42530"/>
                    <a:pt x="1796628" y="57881"/>
                  </a:cubicBezTo>
                  <a:lnTo>
                    <a:pt x="1796628" y="1416270"/>
                  </a:lnTo>
                  <a:cubicBezTo>
                    <a:pt x="1796628" y="1431621"/>
                    <a:pt x="1790529" y="1446343"/>
                    <a:pt x="1779675" y="1457198"/>
                  </a:cubicBezTo>
                  <a:cubicBezTo>
                    <a:pt x="1768820" y="1468053"/>
                    <a:pt x="1754098" y="1474151"/>
                    <a:pt x="1738747" y="1474151"/>
                  </a:cubicBezTo>
                  <a:lnTo>
                    <a:pt x="57881" y="1474151"/>
                  </a:lnTo>
                  <a:cubicBezTo>
                    <a:pt x="25914" y="1474151"/>
                    <a:pt x="0" y="1448237"/>
                    <a:pt x="0" y="1416270"/>
                  </a:cubicBezTo>
                  <a:lnTo>
                    <a:pt x="0" y="57881"/>
                  </a:lnTo>
                  <a:cubicBezTo>
                    <a:pt x="0" y="42530"/>
                    <a:pt x="6098" y="27808"/>
                    <a:pt x="16953" y="16953"/>
                  </a:cubicBezTo>
                  <a:cubicBezTo>
                    <a:pt x="27808" y="6098"/>
                    <a:pt x="42530" y="0"/>
                    <a:pt x="578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6FA1A6">
                    <a:alpha val="100000"/>
                  </a:srgbClr>
                </a:gs>
                <a:gs pos="100000">
                  <a:srgbClr val="5B534F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796628" cy="15122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  <a:spcBef>
                <a:spcPct val="0"/>
              </a:spcBef>
            </a:pPr>
            <a:r>
              <a:rPr lang="en-US" b="true" sz="1940">
                <a:solidFill>
                  <a:srgbClr val="3D2882"/>
                </a:solidFill>
                <a:latin typeface="Raleway Bold"/>
                <a:ea typeface="Raleway Bold"/>
                <a:cs typeface="Raleway Bold"/>
                <a:sym typeface="Raleway Bold"/>
              </a:rPr>
              <a:t>03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23809" y="1587765"/>
            <a:ext cx="15668802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34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Checkpoint 1 Continuity and Objective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640404" y="4858636"/>
            <a:ext cx="5367238" cy="3985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true" sz="12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Checkpoint 1 established the research question, dataset fit, target definition, class imbalance, and first leakage risks.</a:t>
            </a:r>
          </a:p>
          <a:p>
            <a:r>
              <a:rPr lang="en-US" b="true" sz="12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The project remains an empirical association study, not a causal study.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924367" y="4174357"/>
            <a:ext cx="3179011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50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What Checkpoint 1 Locked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423809" y="3325022"/>
            <a:ext cx="1216595" cy="1216595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76200" cap="sq">
              <a:gradFill>
                <a:gsLst>
                  <a:gs pos="0">
                    <a:srgbClr val="A8DCE2">
                      <a:alpha val="100000"/>
                    </a:srgbClr>
                  </a:gs>
                  <a:gs pos="100000">
                    <a:srgbClr val="E7E8E4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786667" y="3697115"/>
            <a:ext cx="6821570" cy="5597167"/>
            <a:chOff x="0" y="0"/>
            <a:chExt cx="1796628" cy="147415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796628" cy="1474151"/>
            </a:xfrm>
            <a:custGeom>
              <a:avLst/>
              <a:gdLst/>
              <a:ahLst/>
              <a:cxnLst/>
              <a:rect r="r" b="b" t="t" l="l"/>
              <a:pathLst>
                <a:path h="1474151" w="1796628">
                  <a:moveTo>
                    <a:pt x="57881" y="0"/>
                  </a:moveTo>
                  <a:lnTo>
                    <a:pt x="1738747" y="0"/>
                  </a:lnTo>
                  <a:cubicBezTo>
                    <a:pt x="1754098" y="0"/>
                    <a:pt x="1768820" y="6098"/>
                    <a:pt x="1779675" y="16953"/>
                  </a:cubicBezTo>
                  <a:cubicBezTo>
                    <a:pt x="1790529" y="27808"/>
                    <a:pt x="1796628" y="42530"/>
                    <a:pt x="1796628" y="57881"/>
                  </a:cubicBezTo>
                  <a:lnTo>
                    <a:pt x="1796628" y="1416270"/>
                  </a:lnTo>
                  <a:cubicBezTo>
                    <a:pt x="1796628" y="1431621"/>
                    <a:pt x="1790529" y="1446343"/>
                    <a:pt x="1779675" y="1457198"/>
                  </a:cubicBezTo>
                  <a:cubicBezTo>
                    <a:pt x="1768820" y="1468053"/>
                    <a:pt x="1754098" y="1474151"/>
                    <a:pt x="1738747" y="1474151"/>
                  </a:cubicBezTo>
                  <a:lnTo>
                    <a:pt x="57881" y="1474151"/>
                  </a:lnTo>
                  <a:cubicBezTo>
                    <a:pt x="25914" y="1474151"/>
                    <a:pt x="0" y="1448237"/>
                    <a:pt x="0" y="1416270"/>
                  </a:cubicBezTo>
                  <a:lnTo>
                    <a:pt x="0" y="57881"/>
                  </a:lnTo>
                  <a:cubicBezTo>
                    <a:pt x="0" y="42530"/>
                    <a:pt x="6098" y="27808"/>
                    <a:pt x="16953" y="16953"/>
                  </a:cubicBezTo>
                  <a:cubicBezTo>
                    <a:pt x="27808" y="6098"/>
                    <a:pt x="42530" y="0"/>
                    <a:pt x="578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6FA1A6">
                    <a:alpha val="100000"/>
                  </a:srgbClr>
                </a:gs>
                <a:gs pos="100000">
                  <a:srgbClr val="5B534F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796628" cy="15122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0474805" y="4858636"/>
            <a:ext cx="5367238" cy="1469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2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Build a reproducible first modeling baseline using leakage-safer PR-level features and imbalance-aware metrics.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758768" y="4174357"/>
            <a:ext cx="3179011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50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Checkpoint 2 Objective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258210" y="3325022"/>
            <a:ext cx="1216595" cy="1216595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76200" cap="sq">
              <a:gradFill>
                <a:gsLst>
                  <a:gs pos="0">
                    <a:srgbClr val="A8DCE2">
                      <a:alpha val="100000"/>
                    </a:srgbClr>
                  </a:gs>
                  <a:gs pos="100000">
                    <a:srgbClr val="E7E8E4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758768" y="6642600"/>
            <a:ext cx="3977226" cy="407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4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Checkpoint 2 Scope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474805" y="7319707"/>
            <a:ext cx="5367238" cy="1469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20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Finalize the feature contract, set the preprocessing pipeline, compare baseline and stronger supervised models on an internal validation split, and keep the official test split reserved.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55227" y="-514350"/>
            <a:ext cx="5904073" cy="11980352"/>
            <a:chOff x="0" y="0"/>
            <a:chExt cx="1554982" cy="31553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54982" cy="3155319"/>
            </a:xfrm>
            <a:custGeom>
              <a:avLst/>
              <a:gdLst/>
              <a:ahLst/>
              <a:cxnLst/>
              <a:rect r="r" b="b" t="t" l="l"/>
              <a:pathLst>
                <a:path h="3155319" w="1554982">
                  <a:moveTo>
                    <a:pt x="0" y="0"/>
                  </a:moveTo>
                  <a:lnTo>
                    <a:pt x="1554982" y="0"/>
                  </a:lnTo>
                  <a:lnTo>
                    <a:pt x="1554982" y="3155319"/>
                  </a:lnTo>
                  <a:lnTo>
                    <a:pt x="0" y="3155319"/>
                  </a:lnTo>
                  <a:close/>
                </a:path>
              </a:pathLst>
            </a:custGeom>
            <a:gradFill rotWithShape="true">
              <a:gsLst>
                <a:gs pos="0">
                  <a:srgbClr val="FFF5E9">
                    <a:alpha val="100000"/>
                  </a:srgbClr>
                </a:gs>
                <a:gs pos="50000">
                  <a:srgbClr val="E7E8E4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54982" cy="31934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7498549">
            <a:off x="14855469" y="5210151"/>
            <a:ext cx="3413934" cy="3413934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470062" y="328639"/>
            <a:ext cx="3413934" cy="3413934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1056679" y="1135129"/>
            <a:ext cx="6522738" cy="7071846"/>
          </a:xfrm>
          <a:custGeom>
            <a:avLst/>
            <a:gdLst/>
            <a:ahLst/>
            <a:cxnLst/>
            <a:rect r="r" b="b" t="t" l="l"/>
            <a:pathLst>
              <a:path h="7071846" w="6522738">
                <a:moveTo>
                  <a:pt x="0" y="0"/>
                </a:moveTo>
                <a:lnTo>
                  <a:pt x="6522738" y="0"/>
                </a:lnTo>
                <a:lnTo>
                  <a:pt x="6522738" y="7071846"/>
                </a:lnTo>
                <a:lnTo>
                  <a:pt x="0" y="70718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  <a:spcBef>
                <a:spcPct val="0"/>
              </a:spcBef>
            </a:pPr>
            <a:r>
              <a:rPr lang="en-US" b="true" sz="1940">
                <a:solidFill>
                  <a:srgbClr val="3D2882"/>
                </a:solidFill>
                <a:latin typeface="Raleway Bold"/>
                <a:ea typeface="Raleway Bold"/>
                <a:cs typeface="Raleway Bold"/>
                <a:sym typeface="Raleway Bold"/>
              </a:rPr>
              <a:t>04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17380" y="1418447"/>
            <a:ext cx="8152682" cy="1878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48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Data Scope and Validation Discipline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17380" y="3573331"/>
            <a:ext cx="9003553" cy="5509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The PRFeatures train file remains the modeling source: 1,045,883 rows and 72 columns.</a:t>
            </a:r>
          </a:p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The provided test file is not used for checkpoint 2 model selection; it is reserved for later final evaluation.</a:t>
            </a:r>
          </a:p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Checkpoint 2 uses an internal validation split from the training data so model choice stays separate from the official holdout.</a:t>
            </a:r>
          </a:p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The target distribution remains stable across files: about 89% merged and 11% not merged.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623644" y="8371859"/>
            <a:ext cx="5367238" cy="1098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000" u="sng">
                <a:ea typeface="Raleway Bold"/>
                <a:cs typeface="Raleway Bold"/>
                <a:sym typeface="Raleway Bold"/>
                <a:hlinkClick r:id="rId3" tooltip="https://zenodo.org/records/10049493"/>
                <a:solidFill>
                  <a:srgbClr val="FFFFFF"/>
                </a:solidFill>
                <a:latin typeface="Raleway Bold"/>
              </a:rPr>
              <a:t>Zenodo PRFeatures train/test files; checkpoint 2 uses train-only validation.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294772" y="1575002"/>
            <a:ext cx="12786679" cy="93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43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Feature-Availability Contract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3253332" y="7581282"/>
            <a:ext cx="5034668" cy="2810260"/>
          </a:xfrm>
          <a:custGeom>
            <a:avLst/>
            <a:gdLst/>
            <a:ahLst/>
            <a:cxnLst/>
            <a:rect r="r" b="b" t="t" l="l"/>
            <a:pathLst>
              <a:path h="2810260" w="5034668">
                <a:moveTo>
                  <a:pt x="0" y="0"/>
                </a:moveTo>
                <a:lnTo>
                  <a:pt x="5034668" y="0"/>
                </a:lnTo>
                <a:lnTo>
                  <a:pt x="5034668" y="2810260"/>
                </a:lnTo>
                <a:lnTo>
                  <a:pt x="0" y="28102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1064112" y="386104"/>
            <a:ext cx="2843806" cy="1587361"/>
          </a:xfrm>
          <a:custGeom>
            <a:avLst/>
            <a:gdLst/>
            <a:ahLst/>
            <a:cxnLst/>
            <a:rect r="r" b="b" t="t" l="l"/>
            <a:pathLst>
              <a:path h="1587361" w="2843806">
                <a:moveTo>
                  <a:pt x="0" y="0"/>
                </a:moveTo>
                <a:lnTo>
                  <a:pt x="2843806" y="0"/>
                </a:lnTo>
                <a:lnTo>
                  <a:pt x="2843806" y="1587361"/>
                </a:lnTo>
                <a:lnTo>
                  <a:pt x="0" y="15873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8718285" y="2682828"/>
            <a:ext cx="8452441" cy="4898453"/>
            <a:chOff x="0" y="0"/>
            <a:chExt cx="2074157" cy="12020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74157" cy="1202039"/>
            </a:xfrm>
            <a:custGeom>
              <a:avLst/>
              <a:gdLst/>
              <a:ahLst/>
              <a:cxnLst/>
              <a:rect r="r" b="b" t="t" l="l"/>
              <a:pathLst>
                <a:path h="1202039" w="2074157">
                  <a:moveTo>
                    <a:pt x="46713" y="0"/>
                  </a:moveTo>
                  <a:lnTo>
                    <a:pt x="2027444" y="0"/>
                  </a:lnTo>
                  <a:cubicBezTo>
                    <a:pt x="2039833" y="0"/>
                    <a:pt x="2051715" y="4922"/>
                    <a:pt x="2060475" y="13682"/>
                  </a:cubicBezTo>
                  <a:cubicBezTo>
                    <a:pt x="2069236" y="22442"/>
                    <a:pt x="2074157" y="34324"/>
                    <a:pt x="2074157" y="46713"/>
                  </a:cubicBezTo>
                  <a:lnTo>
                    <a:pt x="2074157" y="1155326"/>
                  </a:lnTo>
                  <a:cubicBezTo>
                    <a:pt x="2074157" y="1167715"/>
                    <a:pt x="2069236" y="1179596"/>
                    <a:pt x="2060475" y="1188357"/>
                  </a:cubicBezTo>
                  <a:cubicBezTo>
                    <a:pt x="2051715" y="1197117"/>
                    <a:pt x="2039833" y="1202039"/>
                    <a:pt x="2027444" y="1202039"/>
                  </a:cubicBezTo>
                  <a:lnTo>
                    <a:pt x="46713" y="1202039"/>
                  </a:lnTo>
                  <a:cubicBezTo>
                    <a:pt x="34324" y="1202039"/>
                    <a:pt x="22442" y="1197117"/>
                    <a:pt x="13682" y="1188357"/>
                  </a:cubicBezTo>
                  <a:cubicBezTo>
                    <a:pt x="4922" y="1179596"/>
                    <a:pt x="0" y="1167715"/>
                    <a:pt x="0" y="1155326"/>
                  </a:cubicBezTo>
                  <a:lnTo>
                    <a:pt x="0" y="46713"/>
                  </a:lnTo>
                  <a:cubicBezTo>
                    <a:pt x="0" y="34324"/>
                    <a:pt x="4922" y="22442"/>
                    <a:pt x="13682" y="13682"/>
                  </a:cubicBezTo>
                  <a:cubicBezTo>
                    <a:pt x="22442" y="4922"/>
                    <a:pt x="34324" y="0"/>
                    <a:pt x="46713" y="0"/>
                  </a:cubicBezTo>
                  <a:close/>
                </a:path>
              </a:pathLst>
            </a:custGeom>
            <a:solidFill>
              <a:srgbClr val="2C2F6F">
                <a:alpha val="0"/>
              </a:srgbClr>
            </a:solidFill>
            <a:ln w="9525" cap="rnd">
              <a:solidFill>
                <a:srgbClr val="FEFEFE">
                  <a:alpha val="0"/>
                </a:srgbClr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074157" cy="12401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8869059" y="3089551"/>
          <a:ext cx="8150893" cy="5372100"/>
        </p:xfrm>
        <a:graphic>
          <a:graphicData uri="http://schemas.openxmlformats.org/drawingml/2006/table">
            <a:tbl>
              <a:tblPr/>
              <a:tblGrid>
                <a:gridCol w="2380723"/>
                <a:gridCol w="5770170"/>
              </a:tblGrid>
              <a:tr h="706102">
                <a:tc>
                  <a:txBody>
                    <a:bodyPr anchor="t" rtlCol="false"/>
                    <a:lstStyle/>
                    <a:p>
                      <a:r>
                        <a:rPr lang="en-US" sz="1250" b="1">
                          <a:ea typeface="Montserrat Bold"/>
                          <a:cs typeface="Montserrat Bold"/>
                          <a:sym typeface="Montserrat Bold"/>
                          <a:solidFill>
                            <a:srgbClr val="FFFFFF"/>
                          </a:solidFill>
                          <a:latin typeface="Raleway"/>
                        </a:rPr>
                        <a:t>Category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B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250" b="1">
                          <a:ea typeface="Montserrat Bold"/>
                          <a:cs typeface="Montserrat Bold"/>
                          <a:sym typeface="Montserrat Bold"/>
                          <a:solidFill>
                            <a:srgbClr val="FFFFFF"/>
                          </a:solidFill>
                          <a:latin typeface="Raleway"/>
                        </a:rPr>
                        <a:t>Checkpoint 2 treatment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B6"/>
                    </a:solidFill>
                  </a:tcPr>
                </a:tc>
              </a:tr>
              <a:tr h="1068695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Used headline features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 b="1">
                          <a:ea typeface="Bebas Neue Bold"/>
                          <a:cs typeface="Bebas Neue Bold"/>
                          <a:sym typeface="Bebas Neue Bold"/>
                          <a:solidFill>
                            <a:srgbClr val="FFFFFF"/>
                          </a:solidFill>
                          <a:latin typeface="Raleway"/>
                        </a:rPr>
                        <a:t>25 leakage-safer PR-level predictors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83578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Excluded identifiers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 b="1">
                          <a:ea typeface="Bebas Neue Bold"/>
                          <a:cs typeface="Bebas Neue Bold"/>
                          <a:sym typeface="Bebas Neue Bold"/>
                          <a:solidFill>
                            <a:srgbClr val="FFFFFF"/>
                          </a:solidFill>
                          <a:latin typeface="Raleway"/>
                        </a:rPr>
                        <a:t>id, project_id, creator_id, last_closer_id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6863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Excluded leakage fields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 b="1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last_close_time, lifetime_minutes, reopen_or_not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6863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Held back / sensitivity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Bebas Neue Bold"/>
                          <a:cs typeface="Bebas Neue Bold"/>
                          <a:sym typeface="Bebas Neue Bold"/>
                          <a:solidFill>
                            <a:srgbClr val="FFFFFF"/>
                          </a:solidFill>
                          <a:latin typeface="Raleway"/>
                        </a:rPr>
                        <a:t>comments, CI outcomes, prior_review_num, success rates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2" id="12"/>
          <p:cNvSpPr txBox="true"/>
          <p:nvPr/>
        </p:nvSpPr>
        <p:spPr>
          <a:xfrm rot="0">
            <a:off x="1294772" y="2644728"/>
            <a:ext cx="7013795" cy="4965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40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Checkpoint 2 turns the checkpoint 1 feature-risk review into a modeling contract.</a:t>
            </a:r>
          </a:p>
          <a:p>
            <a:r>
              <a:rPr lang="en-US" sz="140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The headline feature set uses 25 leakage-safer PR-level predictors and excludes fields that can reveal identity, closure, review process, or post-outcome information.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100">
                <a:ea typeface="Raleway Bold"/>
                <a:cs typeface="Raleway Bold"/>
                <a:sym typeface="Raleway Bold"/>
                <a:solidFill>
                  <a:srgbClr val="3D2882"/>
                </a:solidFill>
                <a:latin typeface="Raleway Bold"/>
              </a:rPr>
              <a:t>05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8700" y="7128937"/>
            <a:ext cx="7564520" cy="2049240"/>
            <a:chOff x="0" y="0"/>
            <a:chExt cx="1992302" cy="53971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2302" cy="539717"/>
            </a:xfrm>
            <a:custGeom>
              <a:avLst/>
              <a:gdLst/>
              <a:ahLst/>
              <a:cxnLst/>
              <a:rect r="r" b="b" t="t" l="l"/>
              <a:pathLst>
                <a:path h="539717" w="1992302">
                  <a:moveTo>
                    <a:pt x="52196" y="0"/>
                  </a:moveTo>
                  <a:lnTo>
                    <a:pt x="1940106" y="0"/>
                  </a:lnTo>
                  <a:cubicBezTo>
                    <a:pt x="1953949" y="0"/>
                    <a:pt x="1967225" y="5499"/>
                    <a:pt x="1977014" y="15288"/>
                  </a:cubicBezTo>
                  <a:cubicBezTo>
                    <a:pt x="1986802" y="25077"/>
                    <a:pt x="1992302" y="38353"/>
                    <a:pt x="1992302" y="52196"/>
                  </a:cubicBezTo>
                  <a:lnTo>
                    <a:pt x="1992302" y="487521"/>
                  </a:lnTo>
                  <a:cubicBezTo>
                    <a:pt x="1992302" y="516348"/>
                    <a:pt x="1968933" y="539717"/>
                    <a:pt x="1940106" y="539717"/>
                  </a:cubicBezTo>
                  <a:lnTo>
                    <a:pt x="52196" y="539717"/>
                  </a:lnTo>
                  <a:cubicBezTo>
                    <a:pt x="23369" y="539717"/>
                    <a:pt x="0" y="516348"/>
                    <a:pt x="0" y="487521"/>
                  </a:cubicBezTo>
                  <a:lnTo>
                    <a:pt x="0" y="52196"/>
                  </a:lnTo>
                  <a:cubicBezTo>
                    <a:pt x="0" y="23369"/>
                    <a:pt x="23369" y="0"/>
                    <a:pt x="52196" y="0"/>
                  </a:cubicBezTo>
                  <a:close/>
                </a:path>
              </a:pathLst>
            </a:custGeom>
            <a:solidFill>
              <a:srgbClr val="A8DDE2">
                <a:alpha val="26667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992302" cy="5778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94772" y="7445585"/>
            <a:ext cx="9390526" cy="357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30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Main takeaway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94772" y="7973944"/>
            <a:ext cx="7013795" cy="719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2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The model is leakage-safer, not perfectly leakage-free; risky fields stay out of the headline baseline.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294772" y="1575002"/>
            <a:ext cx="12786679" cy="93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43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Preprocessing and Model Families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3253332" y="7581282"/>
            <a:ext cx="5034668" cy="2810260"/>
          </a:xfrm>
          <a:custGeom>
            <a:avLst/>
            <a:gdLst/>
            <a:ahLst/>
            <a:cxnLst/>
            <a:rect r="r" b="b" t="t" l="l"/>
            <a:pathLst>
              <a:path h="2810260" w="5034668">
                <a:moveTo>
                  <a:pt x="0" y="0"/>
                </a:moveTo>
                <a:lnTo>
                  <a:pt x="5034668" y="0"/>
                </a:lnTo>
                <a:lnTo>
                  <a:pt x="5034668" y="2810260"/>
                </a:lnTo>
                <a:lnTo>
                  <a:pt x="0" y="28102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1064112" y="386104"/>
            <a:ext cx="2843806" cy="1587361"/>
          </a:xfrm>
          <a:custGeom>
            <a:avLst/>
            <a:gdLst/>
            <a:ahLst/>
            <a:cxnLst/>
            <a:rect r="r" b="b" t="t" l="l"/>
            <a:pathLst>
              <a:path h="1587361" w="2843806">
                <a:moveTo>
                  <a:pt x="0" y="0"/>
                </a:moveTo>
                <a:lnTo>
                  <a:pt x="2843806" y="0"/>
                </a:lnTo>
                <a:lnTo>
                  <a:pt x="2843806" y="1587361"/>
                </a:lnTo>
                <a:lnTo>
                  <a:pt x="0" y="15873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8718285" y="2682828"/>
            <a:ext cx="8452441" cy="4898453"/>
            <a:chOff x="0" y="0"/>
            <a:chExt cx="2074157" cy="120203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74157" cy="1202039"/>
            </a:xfrm>
            <a:custGeom>
              <a:avLst/>
              <a:gdLst/>
              <a:ahLst/>
              <a:cxnLst/>
              <a:rect r="r" b="b" t="t" l="l"/>
              <a:pathLst>
                <a:path h="1202039" w="2074157">
                  <a:moveTo>
                    <a:pt x="46713" y="0"/>
                  </a:moveTo>
                  <a:lnTo>
                    <a:pt x="2027444" y="0"/>
                  </a:lnTo>
                  <a:cubicBezTo>
                    <a:pt x="2039833" y="0"/>
                    <a:pt x="2051715" y="4922"/>
                    <a:pt x="2060475" y="13682"/>
                  </a:cubicBezTo>
                  <a:cubicBezTo>
                    <a:pt x="2069236" y="22442"/>
                    <a:pt x="2074157" y="34324"/>
                    <a:pt x="2074157" y="46713"/>
                  </a:cubicBezTo>
                  <a:lnTo>
                    <a:pt x="2074157" y="1155326"/>
                  </a:lnTo>
                  <a:cubicBezTo>
                    <a:pt x="2074157" y="1167715"/>
                    <a:pt x="2069236" y="1179596"/>
                    <a:pt x="2060475" y="1188357"/>
                  </a:cubicBezTo>
                  <a:cubicBezTo>
                    <a:pt x="2051715" y="1197117"/>
                    <a:pt x="2039833" y="1202039"/>
                    <a:pt x="2027444" y="1202039"/>
                  </a:cubicBezTo>
                  <a:lnTo>
                    <a:pt x="46713" y="1202039"/>
                  </a:lnTo>
                  <a:cubicBezTo>
                    <a:pt x="34324" y="1202039"/>
                    <a:pt x="22442" y="1197117"/>
                    <a:pt x="13682" y="1188357"/>
                  </a:cubicBezTo>
                  <a:cubicBezTo>
                    <a:pt x="4922" y="1179596"/>
                    <a:pt x="0" y="1167715"/>
                    <a:pt x="0" y="1155326"/>
                  </a:cubicBezTo>
                  <a:lnTo>
                    <a:pt x="0" y="46713"/>
                  </a:lnTo>
                  <a:cubicBezTo>
                    <a:pt x="0" y="34324"/>
                    <a:pt x="4922" y="22442"/>
                    <a:pt x="13682" y="13682"/>
                  </a:cubicBezTo>
                  <a:cubicBezTo>
                    <a:pt x="22442" y="4922"/>
                    <a:pt x="34324" y="0"/>
                    <a:pt x="46713" y="0"/>
                  </a:cubicBezTo>
                  <a:close/>
                </a:path>
              </a:pathLst>
            </a:custGeom>
            <a:solidFill>
              <a:srgbClr val="2C2F6F">
                <a:alpha val="0"/>
              </a:srgbClr>
            </a:solidFill>
            <a:ln w="9525" cap="rnd">
              <a:solidFill>
                <a:srgbClr val="FEFEFE">
                  <a:alpha val="0"/>
                </a:srgbClr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074157" cy="12401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8869059" y="3089551"/>
          <a:ext cx="8150893" cy="5372100"/>
        </p:xfrm>
        <a:graphic>
          <a:graphicData uri="http://schemas.openxmlformats.org/drawingml/2006/table">
            <a:tbl>
              <a:tblPr/>
              <a:tblGrid>
                <a:gridCol w="2380723"/>
                <a:gridCol w="5770170"/>
              </a:tblGrid>
              <a:tr h="706102">
                <a:tc>
                  <a:txBody>
                    <a:bodyPr anchor="t" rtlCol="false"/>
                    <a:lstStyle/>
                    <a:p>
                      <a:r>
                        <a:rPr lang="en-US" sz="1250" b="1">
                          <a:ea typeface="Montserrat Bold"/>
                          <a:cs typeface="Montserrat Bold"/>
                          <a:sym typeface="Montserrat Bold"/>
                          <a:solidFill>
                            <a:srgbClr val="FFFFFF"/>
                          </a:solidFill>
                          <a:latin typeface="Raleway"/>
                        </a:rPr>
                        <a:t>Component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B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250" b="1">
                          <a:ea typeface="Montserrat Bold"/>
                          <a:cs typeface="Montserrat Bold"/>
                          <a:sym typeface="Montserrat Bold"/>
                          <a:solidFill>
                            <a:srgbClr val="FFFFFF"/>
                          </a:solidFill>
                          <a:latin typeface="Raleway"/>
                        </a:rPr>
                        <a:t>Checkpoint 2 choice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AB6"/>
                    </a:solidFill>
                  </a:tcPr>
                </a:tc>
              </a:tr>
              <a:tr h="1068695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Numeric features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 b="1">
                          <a:ea typeface="Bebas Neue Bold"/>
                          <a:cs typeface="Bebas Neue Bold"/>
                          <a:sym typeface="Bebas Neue Bold"/>
                          <a:solidFill>
                            <a:srgbClr val="FFFFFF"/>
                          </a:solidFill>
                          <a:latin typeface="Raleway"/>
                        </a:rPr>
                        <a:t>median imputation + scaling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83578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Binary features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Bebas Neue Bold"/>
                          <a:cs typeface="Bebas Neue Bold"/>
                          <a:sym typeface="Bebas Neue Bold"/>
                          <a:solidFill>
                            <a:srgbClr val="FFFFFF"/>
                          </a:solidFill>
                          <a:latin typeface="Raleway"/>
                        </a:rPr>
                        <a:t>most-frequent imputation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6863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Language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one-hot encoding; unknowns ignored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06863"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Montserrat"/>
                          <a:cs typeface="Montserrat"/>
                          <a:sym typeface="Montserrat"/>
                          <a:solidFill>
                            <a:srgbClr val="FFFFFF"/>
                          </a:solidFill>
                          <a:latin typeface="Raleway"/>
                        </a:rPr>
                        <a:t>Models compared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rPr lang="en-US" sz="1350">
                          <a:ea typeface="Bebas Neue Bold"/>
                          <a:cs typeface="Bebas Neue Bold"/>
                          <a:sym typeface="Bebas Neue Bold"/>
                          <a:solidFill>
                            <a:srgbClr val="FFFFFF"/>
                          </a:solidFill>
                          <a:latin typeface="Raleway"/>
                        </a:rPr>
                        <a:t>dummy, logistic, tree, random forest, HGB</a:t>
                      </a:r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8C98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2C2F6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2" id="12"/>
          <p:cNvSpPr txBox="true"/>
          <p:nvPr/>
        </p:nvSpPr>
        <p:spPr>
          <a:xfrm rot="0">
            <a:off x="1294772" y="2644728"/>
            <a:ext cx="7013795" cy="4965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40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The modeling workflow is built as a reproducible sklearn Pipeline.</a:t>
            </a:r>
          </a:p>
          <a:p>
            <a:r>
              <a:rPr lang="en-US" sz="140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Preprocessing is learned on the training portion only, then applied to validation data through the same transformer.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100">
                <a:ea typeface="Raleway Bold"/>
                <a:cs typeface="Raleway Bold"/>
                <a:sym typeface="Raleway Bold"/>
                <a:solidFill>
                  <a:srgbClr val="3D2882"/>
                </a:solidFill>
                <a:latin typeface="Raleway Bold"/>
              </a:rPr>
              <a:t>06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8700" y="7128937"/>
            <a:ext cx="7564520" cy="2049240"/>
            <a:chOff x="0" y="0"/>
            <a:chExt cx="1992302" cy="53971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2302" cy="539717"/>
            </a:xfrm>
            <a:custGeom>
              <a:avLst/>
              <a:gdLst/>
              <a:ahLst/>
              <a:cxnLst/>
              <a:rect r="r" b="b" t="t" l="l"/>
              <a:pathLst>
                <a:path h="539717" w="1992302">
                  <a:moveTo>
                    <a:pt x="52196" y="0"/>
                  </a:moveTo>
                  <a:lnTo>
                    <a:pt x="1940106" y="0"/>
                  </a:lnTo>
                  <a:cubicBezTo>
                    <a:pt x="1953949" y="0"/>
                    <a:pt x="1967225" y="5499"/>
                    <a:pt x="1977014" y="15288"/>
                  </a:cubicBezTo>
                  <a:cubicBezTo>
                    <a:pt x="1986802" y="25077"/>
                    <a:pt x="1992302" y="38353"/>
                    <a:pt x="1992302" y="52196"/>
                  </a:cubicBezTo>
                  <a:lnTo>
                    <a:pt x="1992302" y="487521"/>
                  </a:lnTo>
                  <a:cubicBezTo>
                    <a:pt x="1992302" y="516348"/>
                    <a:pt x="1968933" y="539717"/>
                    <a:pt x="1940106" y="539717"/>
                  </a:cubicBezTo>
                  <a:lnTo>
                    <a:pt x="52196" y="539717"/>
                  </a:lnTo>
                  <a:cubicBezTo>
                    <a:pt x="23369" y="539717"/>
                    <a:pt x="0" y="516348"/>
                    <a:pt x="0" y="487521"/>
                  </a:cubicBezTo>
                  <a:lnTo>
                    <a:pt x="0" y="52196"/>
                  </a:lnTo>
                  <a:cubicBezTo>
                    <a:pt x="0" y="23369"/>
                    <a:pt x="23369" y="0"/>
                    <a:pt x="52196" y="0"/>
                  </a:cubicBezTo>
                  <a:close/>
                </a:path>
              </a:pathLst>
            </a:custGeom>
            <a:solidFill>
              <a:srgbClr val="A8DDE2">
                <a:alpha val="26667"/>
              </a:srgbClr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992302" cy="5778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94772" y="7445585"/>
            <a:ext cx="9390526" cy="357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30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Main takeaway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94772" y="7973944"/>
            <a:ext cx="7013795" cy="719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2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Evaluation prioritizes not-merged F1, recall, precision, balanced accuracy, and average precision instead of raw accuracy.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002375" y="5570675"/>
            <a:ext cx="4424956" cy="1755741"/>
            <a:chOff x="0" y="0"/>
            <a:chExt cx="1165420" cy="4624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5420" cy="462417"/>
            </a:xfrm>
            <a:custGeom>
              <a:avLst/>
              <a:gdLst/>
              <a:ahLst/>
              <a:cxnLst/>
              <a:rect r="r" b="b" t="t" l="l"/>
              <a:pathLst>
                <a:path h="462417" w="1165420">
                  <a:moveTo>
                    <a:pt x="89230" y="0"/>
                  </a:moveTo>
                  <a:lnTo>
                    <a:pt x="1076191" y="0"/>
                  </a:lnTo>
                  <a:cubicBezTo>
                    <a:pt x="1099856" y="0"/>
                    <a:pt x="1122552" y="9401"/>
                    <a:pt x="1139286" y="26135"/>
                  </a:cubicBezTo>
                  <a:cubicBezTo>
                    <a:pt x="1156019" y="42869"/>
                    <a:pt x="1165420" y="65565"/>
                    <a:pt x="1165420" y="89230"/>
                  </a:cubicBezTo>
                  <a:lnTo>
                    <a:pt x="1165420" y="373188"/>
                  </a:lnTo>
                  <a:cubicBezTo>
                    <a:pt x="1165420" y="396853"/>
                    <a:pt x="1156019" y="419549"/>
                    <a:pt x="1139286" y="436283"/>
                  </a:cubicBezTo>
                  <a:cubicBezTo>
                    <a:pt x="1122552" y="453016"/>
                    <a:pt x="1099856" y="462417"/>
                    <a:pt x="1076191" y="462417"/>
                  </a:cubicBezTo>
                  <a:lnTo>
                    <a:pt x="89230" y="462417"/>
                  </a:lnTo>
                  <a:cubicBezTo>
                    <a:pt x="39950" y="462417"/>
                    <a:pt x="0" y="422468"/>
                    <a:pt x="0" y="373188"/>
                  </a:cubicBezTo>
                  <a:lnTo>
                    <a:pt x="0" y="89230"/>
                  </a:lnTo>
                  <a:cubicBezTo>
                    <a:pt x="0" y="39950"/>
                    <a:pt x="39950" y="0"/>
                    <a:pt x="89230" y="0"/>
                  </a:cubicBezTo>
                  <a:close/>
                </a:path>
              </a:pathLst>
            </a:custGeom>
            <a:solidFill>
              <a:srgbClr val="2C2F6F"/>
            </a:solidFill>
            <a:ln w="9525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165420" cy="519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1123950"/>
            <a:ext cx="155672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37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Internal Validation:</a:t>
            </a:r>
          </a:p>
          <a:p>
            <a:r>
              <a:rPr lang="en-US" sz="37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Model Comparison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144000" y="2218619"/>
            <a:ext cx="6875926" cy="3455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30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Checkpoint 2 compares a majority baseline, linear baseline, simple tree, and stronger tree ensembles using the internal validation split. The official test split remains untouched at this milestone.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2963962" y="4796667"/>
            <a:ext cx="4463056" cy="1755741"/>
            <a:chOff x="0" y="0"/>
            <a:chExt cx="1175455" cy="46241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75455" cy="462417"/>
            </a:xfrm>
            <a:custGeom>
              <a:avLst/>
              <a:gdLst/>
              <a:ahLst/>
              <a:cxnLst/>
              <a:rect r="r" b="b" t="t" l="l"/>
              <a:pathLst>
                <a:path h="462417" w="1175455">
                  <a:moveTo>
                    <a:pt x="88468" y="0"/>
                  </a:moveTo>
                  <a:lnTo>
                    <a:pt x="1086987" y="0"/>
                  </a:lnTo>
                  <a:cubicBezTo>
                    <a:pt x="1135846" y="0"/>
                    <a:pt x="1175455" y="39609"/>
                    <a:pt x="1175455" y="88468"/>
                  </a:cubicBezTo>
                  <a:lnTo>
                    <a:pt x="1175455" y="373949"/>
                  </a:lnTo>
                  <a:cubicBezTo>
                    <a:pt x="1175455" y="422809"/>
                    <a:pt x="1135846" y="462417"/>
                    <a:pt x="1086987" y="462417"/>
                  </a:cubicBezTo>
                  <a:lnTo>
                    <a:pt x="88468" y="462417"/>
                  </a:lnTo>
                  <a:cubicBezTo>
                    <a:pt x="39609" y="462417"/>
                    <a:pt x="0" y="422809"/>
                    <a:pt x="0" y="373949"/>
                  </a:cubicBezTo>
                  <a:lnTo>
                    <a:pt x="0" y="88468"/>
                  </a:lnTo>
                  <a:cubicBezTo>
                    <a:pt x="0" y="39609"/>
                    <a:pt x="39609" y="0"/>
                    <a:pt x="88468" y="0"/>
                  </a:cubicBezTo>
                  <a:close/>
                </a:path>
              </a:pathLst>
            </a:custGeom>
            <a:solidFill>
              <a:srgbClr val="2C2F6F"/>
            </a:solidFill>
            <a:ln w="9525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175455" cy="519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028700" y="2800956"/>
            <a:ext cx="7317989" cy="4110226"/>
          </a:xfrm>
          <a:custGeom>
            <a:avLst/>
            <a:gdLst/>
            <a:ahLst/>
            <a:cxnLst/>
            <a:rect r="r" b="b" t="t" l="l"/>
            <a:pathLst>
              <a:path h="4110226" w="7317989">
                <a:moveTo>
                  <a:pt x="0" y="0"/>
                </a:moveTo>
                <a:lnTo>
                  <a:pt x="7317989" y="0"/>
                </a:lnTo>
                <a:lnTo>
                  <a:pt x="7317989" y="4110225"/>
                </a:lnTo>
                <a:lnTo>
                  <a:pt x="0" y="41102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7792856" y="8741720"/>
            <a:ext cx="385473" cy="341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100">
                <a:ea typeface="Raleway Bold"/>
                <a:cs typeface="Raleway Bold"/>
                <a:sym typeface="Raleway Bold"/>
                <a:solidFill>
                  <a:srgbClr val="3D2882"/>
                </a:solidFill>
                <a:latin typeface="Raleway Bold"/>
              </a:rPr>
              <a:t>07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002375" y="5911211"/>
            <a:ext cx="4214804" cy="1027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Validation best:</a:t>
            </a:r>
          </a:p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Random forest balanced</a:t>
            </a:r>
          </a:p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Not-merged F1: 0.372</a:t>
            </a:r>
          </a:p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Not-merged recall: 0.602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044496" y="5137204"/>
            <a:ext cx="4214804" cy="1027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Baseline contrast:</a:t>
            </a:r>
          </a:p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Dummy majority</a:t>
            </a:r>
          </a:p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Accuracy: 0.892</a:t>
            </a:r>
          </a:p>
          <a:p>
            <a:r>
              <a:rPr lang="en-US" b="true" sz="115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"/>
              </a:rPr>
              <a:t>Not-merged F1: 0.000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93748" y="7723756"/>
            <a:ext cx="9390526" cy="861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1300">
                <a:ea typeface="Raleway Bold"/>
                <a:cs typeface="Raleway Bold"/>
                <a:sym typeface="Raleway Bold"/>
                <a:solidFill>
                  <a:srgbClr val="FFFFFF"/>
                </a:solidFill>
                <a:latin typeface="Raleway Bold"/>
              </a:rPr>
              <a:t>Main Observation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93748" y="8136041"/>
            <a:ext cx="16891845" cy="1162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2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Random Forest is selected because it performs best by validation not-merged F1, not because it is universally best or deployment-ready.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  <a:spcBef>
                <a:spcPct val="0"/>
              </a:spcBef>
            </a:pPr>
            <a:r>
              <a:rPr lang="en-US" b="true" sz="1940">
                <a:solidFill>
                  <a:srgbClr val="3D2882"/>
                </a:solidFill>
                <a:latin typeface="Raleway Bold"/>
                <a:ea typeface="Raleway Bold"/>
                <a:cs typeface="Raleway Bold"/>
                <a:sym typeface="Raleway Bold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251048" y="2285837"/>
            <a:ext cx="5385535" cy="111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5000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Interpretation and</a:t>
            </a:r>
          </a:p>
          <a:p>
            <a:r>
              <a:rPr lang="en-US" b="1" sz="5000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next steps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856798" y="3992471"/>
            <a:ext cx="4316166" cy="4316166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76200" cap="sq">
              <a:gradFill>
                <a:gsLst>
                  <a:gs pos="0">
                    <a:srgbClr val="E7862B">
                      <a:alpha val="100000"/>
                    </a:srgbClr>
                  </a:gs>
                  <a:gs pos="100000">
                    <a:srgbClr val="E7E8E4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576735" y="4506365"/>
            <a:ext cx="881581" cy="881581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576735" y="6792699"/>
            <a:ext cx="881581" cy="881581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429316" y="4506365"/>
            <a:ext cx="881581" cy="881581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429316" y="6792699"/>
            <a:ext cx="881581" cy="88158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28700" y="3812858"/>
            <a:ext cx="5533454" cy="260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Save an executed checkpoint 2 notebook with visible model-comparison outputs.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6645798"/>
            <a:ext cx="5533454" cy="111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Keep feature timing explicit: headline features used, risky fields held back or sensitivity-only.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606172" y="4396740"/>
            <a:ext cx="5284990" cy="746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Present results as moderate predictive association; do not claim causality or automated decisions.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606172" y="6460060"/>
            <a:ext cx="5284990" cy="1489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1350">
                <a:ea typeface="Raleway"/>
                <a:cs typeface="Raleway"/>
                <a:sym typeface="Raleway"/>
                <a:solidFill>
                  <a:srgbClr val="FFFFFF"/>
                </a:solidFill>
                <a:latin typeface="Raleway"/>
              </a:rPr>
              <a:t>Reserve official test evaluation for the final stage, after the checkpoint 2 pipeline is locked.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7906391" y="4947156"/>
            <a:ext cx="2216979" cy="2216979"/>
          </a:xfrm>
          <a:custGeom>
            <a:avLst/>
            <a:gdLst/>
            <a:ahLst/>
            <a:cxnLst/>
            <a:rect r="r" b="b" t="t" l="l"/>
            <a:pathLst>
              <a:path h="2216979" w="2216979">
                <a:moveTo>
                  <a:pt x="0" y="0"/>
                </a:moveTo>
                <a:lnTo>
                  <a:pt x="2216980" y="0"/>
                </a:lnTo>
                <a:lnTo>
                  <a:pt x="2216980" y="2216979"/>
                </a:lnTo>
                <a:lnTo>
                  <a:pt x="0" y="22169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F367C">
                <a:alpha val="100000"/>
              </a:srgbClr>
            </a:gs>
            <a:gs pos="100000">
              <a:srgbClr val="3B2F5F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79417" y="8585700"/>
            <a:ext cx="1075518" cy="708583"/>
            <a:chOff x="0" y="0"/>
            <a:chExt cx="283264" cy="1866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3264" cy="186623"/>
            </a:xfrm>
            <a:custGeom>
              <a:avLst/>
              <a:gdLst/>
              <a:ahLst/>
              <a:cxnLst/>
              <a:rect r="r" b="b" t="t" l="l"/>
              <a:pathLst>
                <a:path h="186623" w="283264">
                  <a:moveTo>
                    <a:pt x="0" y="0"/>
                  </a:moveTo>
                  <a:lnTo>
                    <a:pt x="283264" y="0"/>
                  </a:lnTo>
                  <a:lnTo>
                    <a:pt x="283264" y="186623"/>
                  </a:lnTo>
                  <a:lnTo>
                    <a:pt x="0" y="186623"/>
                  </a:lnTo>
                  <a:close/>
                </a:path>
              </a:pathLst>
            </a:custGeom>
            <a:solidFill>
              <a:srgbClr val="E9E9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3264" cy="224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7792856" y="8741720"/>
            <a:ext cx="385473" cy="341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  <a:spcBef>
                <a:spcPct val="0"/>
              </a:spcBef>
            </a:pPr>
            <a:r>
              <a:rPr lang="en-US" b="true" sz="1940">
                <a:solidFill>
                  <a:srgbClr val="3D2882"/>
                </a:solidFill>
                <a:latin typeface="Raleway Bold"/>
                <a:ea typeface="Raleway Bold"/>
                <a:cs typeface="Raleway Bold"/>
                <a:sym typeface="Raleway Bold"/>
              </a:rPr>
              <a:t>09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382854" y="2068689"/>
            <a:ext cx="5522291" cy="5522291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7862B">
                    <a:alpha val="100000"/>
                  </a:srgbClr>
                </a:gs>
                <a:gs pos="100000">
                  <a:srgbClr val="E7E8E4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12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780425" y="4140054"/>
            <a:ext cx="6229901" cy="2321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sz="5600" b="1">
                <a:ea typeface="Bebas Neue Bold"/>
                <a:cs typeface="Bebas Neue Bold"/>
                <a:sym typeface="Bebas Neue Bold"/>
                <a:solidFill>
                  <a:srgbClr val="FFFFFF"/>
                </a:solidFill>
                <a:latin typeface="Raleway Bold"/>
              </a:rPr>
              <a:t>Q&amp;A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630139" y="4140050"/>
            <a:ext cx="3877436" cy="2321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rPr lang="en-US" b="1" sz="5600">
                <a:ea typeface="Bebas Neue Bold"/>
                <a:cs typeface="Bebas Neue Bold"/>
                <a:sym typeface="Bebas Neue Bold"/>
                <a:solidFill>
                  <a:srgbClr val="E7862A"/>
                </a:solidFill>
                <a:latin typeface="Raleway Bold"/>
              </a:rPr>
              <a:t>thank you!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163023" y="4969027"/>
            <a:ext cx="5034668" cy="2810260"/>
          </a:xfrm>
          <a:custGeom>
            <a:avLst/>
            <a:gdLst/>
            <a:ahLst/>
            <a:cxnLst/>
            <a:rect r="r" b="b" t="t" l="l"/>
            <a:pathLst>
              <a:path h="2810260" w="5034668">
                <a:moveTo>
                  <a:pt x="0" y="0"/>
                </a:moveTo>
                <a:lnTo>
                  <a:pt x="5034669" y="0"/>
                </a:lnTo>
                <a:lnTo>
                  <a:pt x="5034669" y="2810261"/>
                </a:lnTo>
                <a:lnTo>
                  <a:pt x="0" y="28102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144121" y="2562375"/>
            <a:ext cx="2843806" cy="1587361"/>
          </a:xfrm>
          <a:custGeom>
            <a:avLst/>
            <a:gdLst/>
            <a:ahLst/>
            <a:cxnLst/>
            <a:rect r="r" b="b" t="t" l="l"/>
            <a:pathLst>
              <a:path h="1587361" w="2843806">
                <a:moveTo>
                  <a:pt x="0" y="0"/>
                </a:moveTo>
                <a:lnTo>
                  <a:pt x="2843807" y="0"/>
                </a:lnTo>
                <a:lnTo>
                  <a:pt x="2843807" y="1587361"/>
                </a:lnTo>
                <a:lnTo>
                  <a:pt x="0" y="15873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DAHKUbqRcVw</dc:identifier>
  <dcterms:modified xsi:type="dcterms:W3CDTF">2011-08-01T06:04:30Z</dcterms:modified>
  <cp:revision>1</cp:revision>
  <dc:title>data science presentation - checkpoint 2</dc:title>
</cp:coreProperties>
</file>