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4cb20cc9041cf" /><Relationship Type="http://schemas.openxmlformats.org/officeDocument/2006/relationships/extended-properties" Target="/docProps/app.xml" Id="Re6882dc310c74f18" /><Relationship Type="http://schemas.openxmlformats.org/officeDocument/2006/relationships/officeDocument" Target="/ppt/presentation.xml" Id="R037814f41330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787a959a046ee"/>
  </p:sldMasterIdLst>
  <p:notesMasterIdLst>
    <p:notesMasterId xmlns:r="http://schemas.openxmlformats.org/officeDocument/2006/relationships" r:id="Rc73b6d3be66c477a"/>
  </p:notesMasterIdLst>
  <p:sldIdLst>
    <p:sldId xmlns:r="http://schemas.openxmlformats.org/officeDocument/2006/relationships" id="256" r:id="R0615c3b9b4774790"/>
    <p:sldId xmlns:r="http://schemas.openxmlformats.org/officeDocument/2006/relationships" id="257" r:id="R30d21e6ab5354366"/>
    <p:sldId xmlns:r="http://schemas.openxmlformats.org/officeDocument/2006/relationships" id="258" r:id="R667c38a3a67243c5"/>
    <p:sldId xmlns:r="http://schemas.openxmlformats.org/officeDocument/2006/relationships" id="259" r:id="Recebfe0c660e4321"/>
    <p:sldId xmlns:r="http://schemas.openxmlformats.org/officeDocument/2006/relationships" id="260" r:id="R36a5a2b29d614183"/>
    <p:sldId xmlns:r="http://schemas.openxmlformats.org/officeDocument/2006/relationships" id="261" r:id="R117164dd4b274bd0"/>
    <p:sldId xmlns:r="http://schemas.openxmlformats.org/officeDocument/2006/relationships" id="262" r:id="Re43eeea9c06743e5"/>
    <p:sldId xmlns:r="http://schemas.openxmlformats.org/officeDocument/2006/relationships" id="263" r:id="R343a775ae2cd4a03"/>
    <p:sldId xmlns:r="http://schemas.openxmlformats.org/officeDocument/2006/relationships" id="264" r:id="R38df93f5405743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787a959a046ee" /><Relationship Type="http://schemas.openxmlformats.org/officeDocument/2006/relationships/theme" Target="/ppt/theme/theme1.xml" Id="Ra29ae256aa8d4877" /><Relationship Type="http://schemas.openxmlformats.org/officeDocument/2006/relationships/notesMaster" Target="/ppt/notesMasters/notesMaster1.xml" Id="Rc73b6d3be66c477a" /><Relationship Type="http://schemas.openxmlformats.org/officeDocument/2006/relationships/presProps" Target="/ppt/presProps.xml" Id="Reacd6a1ec8a44dcb" /><Relationship Type="http://schemas.openxmlformats.org/officeDocument/2006/relationships/viewProps" Target="/ppt/viewProps.xml" Id="Rff55179758434ca5" /><Relationship Type="http://schemas.openxmlformats.org/officeDocument/2006/relationships/tableStyles" Target="/ppt/tableStyles.xml" Id="Rdffa043db9664fa9" /><Relationship Type="http://schemas.openxmlformats.org/officeDocument/2006/relationships/slide" Target="/ppt/slides/slide1.xml" Id="R0615c3b9b4774790" /><Relationship Type="http://schemas.openxmlformats.org/officeDocument/2006/relationships/slide" Target="/ppt/slides/slide2.xml" Id="R30d21e6ab5354366" /><Relationship Type="http://schemas.openxmlformats.org/officeDocument/2006/relationships/slide" Target="/ppt/slides/slide3.xml" Id="R667c38a3a67243c5" /><Relationship Type="http://schemas.openxmlformats.org/officeDocument/2006/relationships/slide" Target="/ppt/slides/slide4.xml" Id="Recebfe0c660e4321" /><Relationship Type="http://schemas.openxmlformats.org/officeDocument/2006/relationships/slide" Target="/ppt/slides/slide5.xml" Id="R36a5a2b29d614183" /><Relationship Type="http://schemas.openxmlformats.org/officeDocument/2006/relationships/slide" Target="/ppt/slides/slide6.xml" Id="R117164dd4b274bd0" /><Relationship Type="http://schemas.openxmlformats.org/officeDocument/2006/relationships/slide" Target="/ppt/slides/slide7.xml" Id="Re43eeea9c06743e5" /><Relationship Type="http://schemas.openxmlformats.org/officeDocument/2006/relationships/slide" Target="/ppt/slides/slide8.xml" Id="R343a775ae2cd4a03" /><Relationship Type="http://schemas.openxmlformats.org/officeDocument/2006/relationships/slide" Target="/ppt/slides/slide9.xml" Id="R38df93f5405743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57f31380d1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713c1de4a4c2f" /><Relationship Type="http://schemas.openxmlformats.org/officeDocument/2006/relationships/notesMaster" Target="/ppt/notesMasters/notesMaster1.xml" Id="Rd4f36c1c6302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1f4c1a55c74f6f" /><Relationship Type="http://schemas.openxmlformats.org/officeDocument/2006/relationships/notesMaster" Target="/ppt/notesMasters/notesMaster1.xml" Id="R49c4557689fc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12ccd62424aad" /><Relationship Type="http://schemas.openxmlformats.org/officeDocument/2006/relationships/notesMaster" Target="/ppt/notesMasters/notesMaster1.xml" Id="R72770fc6f20f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dc38229d0434c" /><Relationship Type="http://schemas.openxmlformats.org/officeDocument/2006/relationships/notesMaster" Target="/ppt/notesMasters/notesMaster1.xml" Id="R496e0dae1eba40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720e1dac1147b6" /><Relationship Type="http://schemas.openxmlformats.org/officeDocument/2006/relationships/notesMaster" Target="/ppt/notesMasters/notesMaster1.xml" Id="R78e2ee40013646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d9ba512b5428a" /><Relationship Type="http://schemas.openxmlformats.org/officeDocument/2006/relationships/notesMaster" Target="/ppt/notesMasters/notesMaster1.xml" Id="R57424e6fbe7c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e6ba12fe54a46" /><Relationship Type="http://schemas.openxmlformats.org/officeDocument/2006/relationships/notesMaster" Target="/ppt/notesMasters/notesMaster1.xml" Id="Rb2cf04744e4f40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1f9edfaf59417b" /><Relationship Type="http://schemas.openxmlformats.org/officeDocument/2006/relationships/notesMaster" Target="/ppt/notesMasters/notesMaster1.xml" Id="Rd78a3ff375c644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ec1861805d44ff" /><Relationship Type="http://schemas.openxmlformats.org/officeDocument/2006/relationships/notesMaster" Target="/ppt/notesMasters/notesMaster1.xml" Id="Ra27da1b5b227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2 is framed as milestone progress, not a final model launch.</a:t>
            </a:r>
          </a:p>
          <a:p xmlns:a="http://schemas.openxmlformats.org/drawingml/2006/main">
            <a:r>
              <a:t>The presentation keeps the same visual system as the checkpoint deck but repairs the cover spacing so the title, date, and author block do not collide.</a:t>
            </a:r>
          </a:p>
          <a:p xmlns:a="http://schemas.openxmlformats.org/drawingml/2006/main">
            <a:r>
              <a:t>The central claim is bounded: PR-level features show moderate predictive association with merge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 is deliberately about readiness and internal validation.</a:t>
            </a:r>
          </a:p>
          <a:p xmlns:a="http://schemas.openxmlformats.org/drawingml/2006/main">
            <a:r>
              <a:t>It does not present official test performance as a main result because the provided test split remains reserved for final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explicitly prevent overclaiming.</a:t>
            </a:r>
          </a:p>
          <a:p xmlns:a="http://schemas.openxmlformats.org/drawingml/2006/main">
            <a:r>
              <a:t>Say that the objective is to evaluate whether PR-level features are useful for prediction, not to prove why maintainers merge or reject PRs.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defense is split discipline.</a:t>
            </a:r>
          </a:p>
          <a:p xmlns:a="http://schemas.openxmlformats.org/drawingml/2006/main">
            <a:r>
              <a:t>The official test set exists and is shown as a reserved final-evaluation asset, but model selection and threshold decisions are made from internal validation only.</a:t>
            </a:r>
          </a:p>
          <a:p xmlns:a="http://schemas.openxmlformats.org/drawingml/2006/main">
            <a:r>
              <a:t>The imbalance means raw accuracy is not the headline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phrase leakage-safer under stated assumptions.</a:t>
            </a:r>
          </a:p>
          <a:p xmlns:a="http://schemas.openxmlformats.org/drawingml/2006/main">
            <a:r>
              <a:t>Do not claim the feature policy eliminates all leakage risk.</a:t>
            </a:r>
          </a:p>
          <a:p xmlns:a="http://schemas.openxmlformats.org/drawingml/2006/main">
            <a:r>
              <a:t>The important distinction is early/headline predictors versus later-stage review process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technical defense is that all models share the same preprocessing contract.</a:t>
            </a:r>
          </a:p>
          <a:p xmlns:a="http://schemas.openxmlformats.org/drawingml/2006/main">
            <a:r>
              <a:t>The pipeline prevents validation leakage from preprocessing fit.</a:t>
            </a:r>
          </a:p>
          <a:p xmlns:a="http://schemas.openxmlformats.org/drawingml/2006/main">
            <a:r>
              <a:t>Random forest is compared against simple and stronger baselines rather than presented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not-merged F1, not accuracy.</a:t>
            </a:r>
          </a:p>
          <a:p xmlns:a="http://schemas.openxmlformats.org/drawingml/2006/main">
            <a:r>
              <a:t>The dummy baseline gets high accuracy because most PRs are merged, but it has zero not-merged F1.</a:t>
            </a:r>
          </a:p>
          <a:p xmlns:a="http://schemas.openxmlformats.org/drawingml/2006/main">
            <a:r>
              <a:t>Random forest is validation-best in this internal split; do not call it universally best or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keep the conclusion honest.</a:t>
            </a:r>
          </a:p>
          <a:p xmlns:a="http://schemas.openxmlformats.org/drawingml/2006/main">
            <a:r>
              <a:t>The right framing is moderate predictive association with explicit limitations.</a:t>
            </a:r>
          </a:p>
          <a:p xmlns:a="http://schemas.openxmlformats.org/drawingml/2006/main">
            <a:r>
              <a:t>Next work is calibration, stress testing, and final evaluation using the reserved official test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questions on the feature contract, imbalance-aware validation, and why the official test split is 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8c3e6d7be44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ab277179184290" /><Relationship Type="http://schemas.openxmlformats.org/officeDocument/2006/relationships/slideLayout" Target="/ppt/slideLayouts/slideLayout2.xml" Id="Rb3562480e093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62480e093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59d267880422b" /><Relationship Type="http://schemas.openxmlformats.org/officeDocument/2006/relationships/image" Target="/ppt/media/image.png" Id="Ra2590c525ffb4a4f" /><Relationship Type="http://schemas.openxmlformats.org/officeDocument/2006/relationships/notesSlide" Target="/ppt/notesSlides/notesSlide1.xml" Id="R2934b331e775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3a22b96c44d36" /><Relationship Type="http://schemas.openxmlformats.org/officeDocument/2006/relationships/notesSlide" Target="/ppt/notesSlides/notesSlide2.xml" Id="R226f4d1bb662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522a286a57420c" /><Relationship Type="http://schemas.openxmlformats.org/officeDocument/2006/relationships/notesSlide" Target="/ppt/notesSlides/notesSlide3.xml" Id="R305f0561187c47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50a06fe1944ed" /><Relationship Type="http://schemas.openxmlformats.org/officeDocument/2006/relationships/notesSlide" Target="/ppt/notesSlides/notesSlide4.xml" Id="Rf1846610c536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3fef44d2a4bb8" /><Relationship Type="http://schemas.openxmlformats.org/officeDocument/2006/relationships/notesSlide" Target="/ppt/notesSlides/notesSlide5.xml" Id="Rc9176feffdbb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df54005c54a4b" /><Relationship Type="http://schemas.openxmlformats.org/officeDocument/2006/relationships/notesSlide" Target="/ppt/notesSlides/notesSlide6.xml" Id="R9759c95eebb04e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1e2af63634d3f" /><Relationship Type="http://schemas.openxmlformats.org/officeDocument/2006/relationships/notesSlide" Target="/ppt/notesSlides/notesSlide7.xml" Id="Rc09bf0492cde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502294b23467a" /><Relationship Type="http://schemas.openxmlformats.org/officeDocument/2006/relationships/notesSlide" Target="/ppt/notesSlides/notesSlide8.xml" Id="Re018a016acb840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b963a60db4c61" /><Relationship Type="http://schemas.openxmlformats.org/officeDocument/2006/relationships/notesSlide" Target="/ppt/notesSlides/notesSlide9.xml" Id="R439cb66acec149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5AA97-3EFE-4FAC-B9B6-13598A0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A55ED-B33D-4F4E-9B31-4663148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059D1-DF18-43D2-A06C-5E904BE8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23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4180D-844A-4543-B6FE-13A261DC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0" y="975360"/>
            <a:ext cx="4061460" cy="406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BD8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24C08-D032-4558-A93F-DCFC185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5490"/>
            <a:ext cx="2872740" cy="2872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A98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34106-5F7A-451A-81B1-55385BC7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AAEB2-99E7-4281-A8D4-AC8F2FC4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970" y="598170"/>
            <a:ext cx="1874520" cy="18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BD8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51C3-E602-4A34-95A9-3DF473E5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78230"/>
            <a:ext cx="1325880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A98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0c525ffb4a4f"/>
          <a:stretch xmlns:a="http://schemas.openxmlformats.org/drawingml/2006/main"/>
        </p:blipFill>
        <p:spPr>
          <a:xfrm xmlns:a="http://schemas.openxmlformats.org/drawingml/2006/main">
            <a:off x="800100" y="518227"/>
            <a:ext cx="1619250" cy="60184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AC985-6902-4F1A-AAC8-C303EDB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Checkpoint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CD7AE-346E-454F-AF0C-A26B3D66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PR Merge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DDB23-0927-4ADC-B788-73EBF74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57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941D"/>
                </a:solidFill>
                <a:latin typeface="Raleway Bold"/>
                <a:ea typeface="Raleway Bold"/>
                <a:cs typeface="Raleway Bold"/>
              </a:defRPr>
            </a:pPr>
            <a:r>
              <a:rPr sz="3600" b="1">
                <a:solidFill>
                  <a:srgbClr val="F7941D"/>
                </a:solidFill>
                <a:latin typeface="Raleway Bold"/>
                <a:ea typeface="Raleway Bold"/>
                <a:cs typeface="Raleway Bold"/>
              </a:rPr>
              <a:t>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D4581-667E-46DD-96B6-524F128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FEUP/MESW/ADES, MAY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75F6F-D0A5-499F-99BC-5F0CB67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MAHMOUD ALI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TESNIME SEBEI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GESSICA GOULART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5ABE2-C57C-4FFC-A2C6-FE835431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CD8C0-08EB-441B-AF85-7B21C5F8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00ADD-F92D-4374-93A7-CBCBDEA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43100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2FEB1-688F-43C7-9F44-54D5E07A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DDD9A-3BBF-4CF4-8A3A-D1D08FF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4DBB2-F1FF-493C-A995-3338682E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18288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A4C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5FD8B-2E70-4A44-BE35-486607ED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6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B7CDC-0CA5-45DF-9AD8-192E138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F9A50-E8AB-49C0-B05F-DE1F784B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1 continuity and 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26AF1-53CD-4A72-BADD-614FC99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FC2A7-F211-4540-97DC-BDCA1CB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Data scope and validation discipline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87228-74F8-4E41-B854-3FD0356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FAE1-7685-4F1F-8A58-0D8E7C0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Feature-availability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B339C-6CE8-49EA-B5D6-F9CC55E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0B942-8D76-46A6-A6D0-524E47E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Preprocessing and model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21BC8-E394-4191-A480-836FA021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29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09B0E-FF94-4EE3-BA54-5885B8C9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Internal validation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30C09-658D-4566-A86B-EFB6928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38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DE1B6-9A3D-46B5-BF4E-8FAA070C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292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Interpretation and next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5846F-7664-48E1-8DED-9E55A9C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8FB81-ECB8-4579-AED2-42C4C256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542C7-0C88-4351-A474-D6112B14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42146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EE78F-F2F7-4B74-9207-07215FC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DCD08-B8A7-4CD1-AFE0-0FDE4B4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72A55-B671-48CA-9779-2640FDC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Checkpoint 1 Continuity and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D6372-D639-4B8C-BF8E-FD2DBAE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44767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3F688-097E-4F8C-AA0D-223AB05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193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What Checkpoint 1 Locked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34EF9-D699-4013-AE90-8B4090F5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241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Research question, PRFeatures dataset fit, target definition, class imbalance, and first leakage risks. The project remains an empirical association study, not a causal study.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F840C-6D07-47A5-A4E8-EA99695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476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68435-E115-4E5E-AE77-B6AD675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2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901DC-1A9D-4468-98BD-08189A7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Build a reproducible first modeling baseline using leakage-safer PR-level features and imbalance-aware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CFC13-554E-4BFF-8D7D-9B7CE79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476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F9134-E8AB-43EA-89C2-D036808C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2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77864-CFA3-479F-B152-2E74B90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Finalize the feature contract, set the preprocessing pipeline, compare baseline and stronger supervised models on an internal validation split, and keep the official test split reserved.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52DCB-BC9D-4475-AF0C-10FC329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6E4D8-F33A-4C9F-A543-CAB2093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1D1C3-085B-4F73-AEF0-645FA6C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04843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C9375-122F-416F-BBB5-AD66FAE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6B976-17D0-48CC-B76C-D37D0CD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F678E-9E12-47FC-A72B-477F4A1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62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044F8-2529-451B-97DF-C22A07B8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928" y="667703"/>
            <a:ext cx="2577465" cy="2577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BD8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2B39B-B557-4776-9F82-87F2CC6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3" y="1327785"/>
            <a:ext cx="1823085" cy="1823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A98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AE8DD-1C9D-4FFF-ADFE-2887B962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96E1-686C-472E-B4FB-5606E81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470" y="4636770"/>
            <a:ext cx="1874520" cy="18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BD8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53152-F746-4A2E-864A-6253E2D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116830"/>
            <a:ext cx="1325880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A98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211FC-B32B-42BE-9149-7227BF6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571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Data Scope and Validation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Discipline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2926-E259-4154-BA32-07E708F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4DE9-A834-47AD-876D-1662E8B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PRFeatures train file remains the modeling source: 1,045,883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B2030-63FF-4985-9728-CC88D106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1940B-ACA4-48BE-A91F-0F35582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Official test file is not used for Checkpoint 2 model selection.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9FC8F-4A8E-4510-B871-4BD34F4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48942-803E-41B1-8E30-E749579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558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Internal validation split from training data keeps model choice separate from final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2D117-2BD8-4C49-90BB-9287A17C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125" b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1EA38-4173-4395-B2E1-296915B4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Target balance is stable: about 89% merged and 11% not merged.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1BF18-716A-4450-93A7-5168CEA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3105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B1A9A-28B3-4A82-AA96-8929C82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5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Target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FE99F-B647-4995-A8F5-4794D0DE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666750" cy="1070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17211-BE1F-4E9D-A0AE-22D4BA9C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1304"/>
            <a:ext cx="666750" cy="130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2AE5B-F056-486F-8803-CD91F7A1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956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89.2%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0C7EE-16EB-4307-A29A-D9C8A791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099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37AC4-A5E0-4BF4-9248-BCE7A510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train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E996F-9346-49CA-AD80-DF13D59F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666750" cy="1070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3CAE9-D31C-4BCC-9706-7BFDBE73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51664"/>
            <a:ext cx="666750" cy="129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D5D32-ADA6-40C0-8484-AB62B2F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956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89.2%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84E0A-A04B-44E3-BFA7-95448F72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4099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10.8%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FDA9E-9C4C-4610-8FCD-71A997C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BB3D3-E21C-4D57-BE2E-A67B51C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3105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5ACAB-BEC0-49B0-9611-F186A96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AB1FA-5ADE-4D42-9B95-AF529B0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339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Accuracy alone is misleading; not-merged F1 and recall must stay visible.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22256-986B-478E-A86B-3ABB7B5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769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Source: PRFeatures train/test files; checkpoint 2 uses train-only validation.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7E221D-E1B6-4761-B5CF-381EE46F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8C76C-E7FA-4410-A730-A51B8E7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09F74-C26C-48D7-B644-3DA7EEA3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34209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CE85E-9B61-497B-9F35-DA65DADF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F5D61-85F4-49CD-9EB2-7AF89E14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7C16E-5F7E-4EFA-8353-BE55052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Feature-Availability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E87D9-AA8C-41A3-A09C-D41A1DC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Checkpoint 2 turns the feature-risk review into a modeling contract: headline features must be available before the outcome, while target-adjacent and later-stage fields are kept out of the main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9846F-2667-4BA7-897D-FA767C9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8620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9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A88A8-591D-4765-B93B-5162EF76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Category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22A97-F6CF-4563-BDD5-E6D5BF8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86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764C4-8AED-4314-B413-4231425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384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2 treatment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2D0C-C08E-4A1D-A3EB-D3CEC62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86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20772-8460-409D-BC84-740B0209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384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Presentation wording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70FC0-73FF-421F-8D1D-FC1CA3B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8620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A7C7-256B-4323-85D0-22DDD717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Headline leakage-safer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0C726-5CF7-41E7-885C-B822A270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38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496E7-D824-4255-A6EF-A27EBBA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718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25 PR-level predictors used in the supervised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D5B8A-800B-4C21-B618-956BDFA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38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D00EC-8E27-48A7-9516-8481177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718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Leakage-safer under stated 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66992-C4B9-40CB-B8A1-05BADF8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862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3BC46-D02F-469B-A5FA-7717136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8620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D11C4-8AB6-4C01-8076-0806A80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Identifiers / post-outcome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AD1A4-394F-4ECC-8BD1-D698DA1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90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EE98D-3C1D-4146-8DD0-499F1626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243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id, project_id, creator_id, last_close_time, lifetime, reopen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F1A65-CA0D-48B3-9EFF-5F736D7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90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CE29C-8FC2-42BA-BD6B-D257A52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2430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Excluded from the headline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5DEED-30C0-46EB-9F04-FF900F4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862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6A105-86C6-4EEE-88E8-FAFE2AD4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8620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BAE64-AFCB-47F9-BE97-D1F09F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Sensitivity-only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DC549-0E27-4CF1-8901-0035A4DC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43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EC670-2506-4480-B397-6E09A7E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767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prior_review_num, success-rate fields, review/churn timing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27407-E6C4-4CAE-93AF-3027F126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43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E702F6-A864-4773-95D7-4D8CB99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767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Held back for sensitivity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62E75-9A60-4084-8D62-617E462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862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0B976D-A50D-4210-BE7F-184E3CD6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8620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5EC2C-4CCD-4E54-824A-2BA57B7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T2 review process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902A4-1FCD-44C6-B35C-F15A7B12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95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0BDD06-9545-4DA1-A394-E89B328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0292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comments, sentiment, CI progress, participants, integrator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B9DE46-C048-4333-8FC3-AC78256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895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EE06E8-0A1F-41E5-BE37-B5744DE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2920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Separate later-stage analysis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4B511A-4349-43ED-A3F0-C9729B6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862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E1AC4-4981-4F98-B68A-D3E3CD3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704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20CE69-A175-4307-BB8C-0078622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Main takeaway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B1D832-F113-4007-96E4-F7D500B2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15050"/>
            <a:ext cx="666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model is leakage-safer, not perfectly leakage-free; timing assumptions stay explicit.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84CA5F-4170-47CE-BA90-4EBE7B45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1E8D21-BA37-44D3-A456-7FBA51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5C77BD-19F6-4C2C-A0F8-271086A2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3332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89A12-64EF-4194-A5BE-02C95C7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DB30-2441-4DFD-9382-1DCF2894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F451-E238-4A71-A34E-5D03925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Preprocessing and Model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2B58-993C-47CD-9F44-8FE5E27C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workflow is a reproducible sklearn Pipeline: preprocessing is learned on training data only, then applied to validation data through the same transformer.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F23D5-9DD3-42D8-9A96-CE532FED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6C3CB-ECA1-489E-B866-ED0AF28C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Raw PR-level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DEE1C-F601-4452-8068-65A00EA4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527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428E6-CFF4-4941-964B-427765C9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9BF4B-23BF-4DFC-A58C-193CC5FE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4D247-7BF0-4DD9-9F47-8D94664C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ColumnTransformer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preprocessing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D8901-367B-43EA-AFF7-19127470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527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3CD30-EE13-45FB-A7DA-E9A6D38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58C18-8AF1-47CB-8B35-7A364211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03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6358A-B4F9-4219-BB25-6D6DF6C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Class-imbalance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A078C-0C08-476F-937C-8A581DDF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527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E00C7-DBFE-4D9C-9012-B0794F7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1E4DF-963A-448F-A577-09D7856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A6583-79D6-4A4E-A65B-B1D264BF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Internal validation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835A3-E52E-4B62-80BF-827E5A7B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7810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9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6FA5A-06AB-466E-81E8-D8AB8755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Component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FFBF6-D5BE-4CF3-922F-5B2B04A4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29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17C06-DC5D-4984-A071-6CC8BB0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81400"/>
            <a:ext cx="5248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2 choice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62EE2-32D3-4A78-AEFB-C6FA094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7810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0F848-EAEB-4F64-9A6D-B373F87F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Numeric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B9AD8-22F8-438F-B66A-D1BED24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29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353F4-9F14-4F6D-B3BF-3E2A6DB9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62400"/>
            <a:ext cx="5248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median imputation + scaling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FFCE7A-21E3-4E63-9839-BA68800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08A83-C53C-409F-BC37-8F9CEA29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7810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D9F43-C2AB-44DC-A378-EE3F049B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Binary features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2C426-26E4-49A5-803C-91DF399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29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18880-21B2-45CC-98AC-2801477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5248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most-frequent imputation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99EEA-9090-4F6D-A58D-39760A2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96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F4D1D-6335-43A2-9FA5-BCB4107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7810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12AAD-0A33-4AAF-B09D-CC53C89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Language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3951C-42A0-4A67-8630-453D69E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29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763A50-029B-4D9D-9F49-86ADBC8C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62500"/>
            <a:ext cx="5248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one-hot encoding; unknown validation categories ignored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B69D7-164F-43DD-B0CB-DE220CE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2E11AB-9F0A-4DB7-AD89-E3130A0A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7810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D24265-0B03-4003-A8FB-9C2785E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Models compared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EE116C-447C-412A-9ADF-D0F28CC8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029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965A7A-C474-45F9-A2EA-7A3B6727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162550"/>
            <a:ext cx="5248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dummy, logistic, decision tree, random forest, histogram gradient boosting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020C57-74F4-4FEE-A758-9F2404A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97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08DBEF-9BED-4214-BC56-2A76785C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704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67871C-5526-4D97-AB8E-07970D7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293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Evaluation focus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D561F-D5A4-4285-B6A5-A863EAD9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34100"/>
            <a:ext cx="666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Not-merged F1, recall, precision, balanced accuracy, and average precision are prioritized over raw accuracy.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FC2BF4-027A-43A0-A69A-624C916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9219B6-538A-4D55-8FE5-4761A29F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8D0811-9C9D-404E-81C7-ED5A6FD8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44587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C10A2-3DD9-48E0-8901-5916083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79FC3-996B-4FB9-AA3E-DD847172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05019-25B6-4AD2-9EB5-AE41AB8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24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Internal Validation: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8E14-A3A2-4218-8037-C52F533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Model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1674-3F0A-4713-A633-43CEF601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Not-merged F1 is the checkpoint headline because a majority baseline can look accurate while detecting no not-merged PRs.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EB6E4-40C8-4BE5-97FD-C3381C2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Random forest balanced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642A3-938F-41BA-9A7D-0138AE44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337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1EAD5-2E11-483B-8EAB-E790B0E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33700"/>
            <a:ext cx="380904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7E8E4-252F-47B6-AEA8-F315B24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0.372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55790-7D7F-4238-A9D0-06B93177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99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DFE95-9C11-485C-B3D2-C78B674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921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75C82-169F-498B-A389-6601A92E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956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rPr>
              <a:t>0.702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93DF1-77C7-460B-9ACE-3AB2135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HGB weighted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9F6F4-41C2-4579-BEB0-C7EC66E9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575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3DCCB-6B36-4821-BDB0-CB868D9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57575"/>
            <a:ext cx="345066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C0C27-67D6-4C20-A6FB-AC9EDF93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194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0.337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C5779-EE8B-4C21-B493-ABBB1ECA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337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3EECD-1846-4F5D-9EB6-D08C635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348" y="3467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78F61-893C-4E7A-AE98-DFFBEC9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1947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rPr>
              <a:t>0.690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D4B0A-D341-43FC-BBC1-90D7178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Decision tree balanced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CD538-8F8F-4402-A9C8-0F44630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814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05BD4-7806-4911-8FF9-F45C416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81450"/>
            <a:ext cx="307181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0A972-31B2-4819-A614-4E68DE5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0.300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FE3BC-3E16-4ACA-9BC5-F8B255E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576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F0281-49BE-4D0E-8940-16B67225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485" y="3990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2F70CE-32F2-4F2A-94F1-A305427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433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rPr>
              <a:t>0.651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ACEC0-8E84-415C-8A19-DD8734C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Logistic regression balanced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70B2E-15AA-4599-BB03-89B8A93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5053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4FA2C-4CC7-4B70-B533-751F1C0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505325"/>
            <a:ext cx="260080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9FB96-FA17-48CA-8C12-45F33DCF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672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0.254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0B72E-C577-4294-B173-5472040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815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F288E7-3019-4034-AA5A-0E34C37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528" y="4514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590F1-B989-47DA-8CA2-4764BF8E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672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rPr>
              <a:t>0.610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458470-C481-4692-912A-F379D21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Dummy majority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611514-7D00-453E-BC79-0FF7DF3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29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C1AD31-4B71-465A-9BEA-2091541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292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E356D-1C0C-46C7-8B72-27438F5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91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4DB5D-231F-45B5-BDD1-40B76A3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05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6CBF0-2B26-4D87-BA00-7776F7A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2440D-A755-422E-8DE2-5DFCCFC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91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B8C1DD"/>
                </a:solidFill>
                <a:latin typeface="Montserrat"/>
                <a:ea typeface="Montserrat"/>
                <a:cs typeface="Montserrat"/>
              </a:rPr>
              <a:t>0.500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876FE3-F629-4B7E-8201-E7082CC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1DD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B8C1DD"/>
                </a:solidFill>
                <a:latin typeface="Montserrat Bold"/>
                <a:ea typeface="Montserrat Bold"/>
                <a:cs typeface="Montserrat Bold"/>
              </a:rPr>
              <a:t>Not-merged F1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28D000-7C98-4CE1-9FA4-E1F6BF90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1DD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900" b="1">
                <a:solidFill>
                  <a:srgbClr val="B8C1DD"/>
                </a:solidFill>
                <a:latin typeface="Montserrat Bold"/>
                <a:ea typeface="Montserrat Bold"/>
                <a:cs typeface="Montserrat Bold"/>
              </a:rPr>
              <a:t>Balanced acc.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39A10B-EEFE-4A0C-8A29-E47A93FE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F579D-F1F7-4B3A-B10D-753EA260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Baseline contrast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4FF8B1-F9CA-40F5-ABFC-4FB6EDD9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Dummy majority: accuracy 0.892, not-merged F1 0.000. Accuracy is therefore reported as context, not the main success metric.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9B15FB-29F6-4956-8C80-899268FE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596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7F6D5-45F7-4BED-B0F5-75F058C1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721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Current validation leader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623B4F-6A3E-4001-83A9-9C5C165B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769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Random forest balanced is selected for this milestone because it has the best validation not-merged F1, not because it is universally best or deployment-ready.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03C656-32CE-4E16-A60E-BA71EE9C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7A1B43-6E04-4ED4-9D66-56D8348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Main Observation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CAD0E7-24B4-4055-8BAD-1BA5A405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model finds usable signal, but performance is moderate and should be framed as predictive association.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557734-3CBD-44BA-B1BA-5918CA5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228079-AC27-401E-A8CD-12D4564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4BE1C3-1E80-4754-97DF-CF3F4E8F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26089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01D15-825A-42B2-957A-6D07F0FB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1A47-5ED7-46FD-BAD0-2D174B1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DFC1-FB77-4D47-A055-13E7B16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Interpretation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and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285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7A3C4-52D2-4EBE-B246-3ACA17F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62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26A5-17E5-4748-9BFC-CC305F81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81" y="1962150"/>
            <a:ext cx="342519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6A9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91CB6-9E44-444E-B539-28FCB8A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38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Predictive association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80D69-2D85-4BA3-BB51-A296DBD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00300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Feature importance and model scores do not prove causal mechanisms.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E0C99-69A1-4566-AADE-0B9E31A6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42D2-B56A-44F7-9A6C-8ECD08D4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731" y="1962150"/>
            <a:ext cx="342519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6A9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D7CA-DAE7-4E4D-8DCB-E905B25A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Moderate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A724F-93C3-4F5B-9BEF-9F5DBF9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model is useful for analysis, not automatic decision-making.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41845-9B80-4365-A1BF-1E0E86D2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4AE77-E704-42EE-A709-88109483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81" y="4686300"/>
            <a:ext cx="342519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6A9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5302B-184A-4D74-B46C-B021739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Timing sensitivity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21A29-0F64-4E6E-8C0B-334A8771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Risky or later-stage fields stay outside the headline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BA9A7-0951-4105-B009-6BCB4EA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20B2-2295-485E-AB64-8243FBA7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731" y="4686300"/>
            <a:ext cx="342519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6A9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C86B4-5E4C-4CF5-B4B6-C4C6640D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3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Reserved final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F0412-78E3-4293-AA64-AF1209E4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24450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Official test evaluation is kept for the final stage after choices are locked.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B1799-2108-4A2C-9D8D-9F933D82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1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Checkpoint 2 next actions: calibration diagnostics, feature-timing sensitivity, and generalization stress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6FDD4-CA32-4998-899C-1E8B7D3D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46373-C89A-4990-9781-2D9343C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B43E4-97D3-4874-88C5-6967130B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75883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72333C-48A5-4862-95F8-6A2A024D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3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897B-3907-4CA0-A21C-AEA9805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ECAD-EE05-421C-B0AE-6AEFBE2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19200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41D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281E0-4FF7-4179-806E-DDE76F0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1090613"/>
            <a:ext cx="3514725" cy="3514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BD8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9E5E1-E5EC-48C7-8FE2-AFF51AE8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1990725"/>
            <a:ext cx="2486025" cy="2486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A98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0FBB-8200-48EB-8B41-E7D6B13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defRPr>
            </a:pPr>
            <a:r>
              <a:rPr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A4ECF-5160-4CC8-AE87-41D9F35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41D"/>
                </a:solidFill>
                <a:latin typeface="Raleway Bold"/>
                <a:ea typeface="Raleway Bold"/>
                <a:cs typeface="Raleway Bold"/>
              </a:defRPr>
            </a:pPr>
            <a:r>
              <a:rPr sz="3150" b="1">
                <a:solidFill>
                  <a:srgbClr val="F7941D"/>
                </a:solidFill>
                <a:latin typeface="Raleway Bold"/>
                <a:ea typeface="Raleway Bold"/>
                <a:cs typeface="Raleway Bold"/>
              </a:rPr>
              <a:t>thank you!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29544-63D7-4B7E-A4BA-9E8A2F18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522F6-C931-47E3-8EFA-0FE2ADB6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9D3BD-ACD5-4438-9EA0-EDBBA75E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00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defRPr>
            </a:pPr>
            <a:r>
              <a:rPr sz="825" b="0">
                <a:solidFill>
                  <a:srgbClr val="25204F"/>
                </a:solidFill>
                <a:latin typeface="Montserrat Bold"/>
                <a:ea typeface="Montserrat Bold"/>
                <a:cs typeface="Montserrat Bol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043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2026-05-21T18:41:20.0960000Z</dcterms:created>
  <dcterms:modified xsi:type="dcterms:W3CDTF">2026-05-21T18:41:20.0960000Z</dcterms:modified>
</coreProperties>
</file>